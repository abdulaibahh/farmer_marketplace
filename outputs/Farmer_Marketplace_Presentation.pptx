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A21"/>
            </a:gs>
            <a:gs pos="58000">
              <a:srgbClr val="153F31"/>
            </a:gs>
            <a:gs pos="100000">
              <a:srgbClr val="091C17"/>
            </a:gs>
          </a:gsLst>
          <a:lin ang="8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F32FDF5E-938A-41E9-BF4E-FB9AB8AA96A3}"/>
              </a:ext>
            </a:extLst>
          </p:cNvPr>
          <p:cNvSpPr>
            <a:spLocks noGrp="1"/>
          </p:cNvSpPr>
          <p:nvPr/>
        </p:nvSpPr>
        <p:spPr>
          <a:xfrm>
            <a:off x="7810500" y="-457200"/>
            <a:ext cx="4381500" cy="4381500"/>
          </a:xfrm>
          <a:prstGeom prst="ellipse">
            <a:avLst/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047BC12-3DE9-4613-9D7D-DA026CEA48A8}"/>
              </a:ext>
            </a:extLst>
          </p:cNvPr>
          <p:cNvSpPr>
            <a:spLocks noGrp="1"/>
          </p:cNvSpPr>
          <p:nvPr/>
        </p:nvSpPr>
        <p:spPr>
          <a:xfrm>
            <a:off x="9334500" y="3810000"/>
            <a:ext cx="3048000" cy="304800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D5EF49-28C8-4472-BD6F-75439CF64EBC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905000" cy="285750"/>
          </a:xfrm>
          <a:prstGeom prst="roundRect">
            <a:avLst>
              <a:gd name="adj" fmla="val 26667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9B7E2D-3FC0-4A9C-88A5-85CE218CD12D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FARMER MARKETPLACE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F58749-DCD6-4818-AFBD-F616457B8037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521970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Direct trade for farmers and buyers.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C024C8-96FA-464A-BED4-6AC50FFAA043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5334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9E9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9E9DF"/>
                </a:solidFill>
                <a:latin typeface="Aptos"/>
                <a:ea typeface="Aptos"/>
                <a:cs typeface="Aptos"/>
              </a:rPr>
              <a:t>A production-ready mobile commerce system for Sierra Leone with polished UI, PostgreSQL persistence, Stripe checkout, and admin moderation.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D7B107C-77EA-414E-803C-1E9BA29599F0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1409700" cy="323850"/>
          </a:xfrm>
          <a:prstGeom prst="roundRect">
            <a:avLst>
              <a:gd name="adj" fmla="val 2352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2B929-2AAE-45C5-B594-F3EB4311FDCA}"/>
              </a:ext>
            </a:extLst>
          </p:cNvPr>
          <p:cNvSpPr>
            <a:spLocks noGrp="1"/>
          </p:cNvSpPr>
          <p:nvPr/>
        </p:nvSpPr>
        <p:spPr>
          <a:xfrm>
            <a:off x="685800" y="4019550"/>
            <a:ext cx="1257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Expo mobile app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477DD28-CDE1-4F38-8FF7-B7A4DBEFFAF7}"/>
              </a:ext>
            </a:extLst>
          </p:cNvPr>
          <p:cNvSpPr>
            <a:spLocks noGrp="1"/>
          </p:cNvSpPr>
          <p:nvPr/>
        </p:nvSpPr>
        <p:spPr>
          <a:xfrm>
            <a:off x="2133600" y="4000500"/>
            <a:ext cx="1619250" cy="323850"/>
          </a:xfrm>
          <a:prstGeom prst="roundRect">
            <a:avLst>
              <a:gd name="adj" fmla="val 23529"/>
            </a:avLst>
          </a:prstGeom>
          <a:solidFill>
            <a:srgbClr val="FFF1D9"/>
          </a:solidFill>
          <a:ln w="9525">
            <a:solidFill>
              <a:srgbClr val="FFF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682B57-9788-4EA8-A14E-98D54DD64A64}"/>
              </a:ext>
            </a:extLst>
          </p:cNvPr>
          <p:cNvSpPr>
            <a:spLocks noGrp="1"/>
          </p:cNvSpPr>
          <p:nvPr/>
        </p:nvSpPr>
        <p:spPr>
          <a:xfrm>
            <a:off x="2209800" y="4019550"/>
            <a:ext cx="14668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8C5C0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5C00"/>
                </a:solidFill>
                <a:latin typeface="Aptos"/>
                <a:ea typeface="Aptos"/>
                <a:cs typeface="Aptos"/>
              </a:rPr>
              <a:t>PostgreSQL backend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D2AF45-F28B-4908-8AE5-996B02A45B91}"/>
              </a:ext>
            </a:extLst>
          </p:cNvPr>
          <p:cNvSpPr>
            <a:spLocks noGrp="1"/>
          </p:cNvSpPr>
          <p:nvPr/>
        </p:nvSpPr>
        <p:spPr>
          <a:xfrm>
            <a:off x="3867150" y="4000500"/>
            <a:ext cx="1428750" cy="323850"/>
          </a:xfrm>
          <a:prstGeom prst="roundRect">
            <a:avLst>
              <a:gd name="adj" fmla="val 23529"/>
            </a:avLst>
          </a:prstGeom>
          <a:solidFill>
            <a:srgbClr val="E7EEF9"/>
          </a:solidFill>
          <a:ln w="9525">
            <a:solidFill>
              <a:srgbClr val="E7EEF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01D43A-785A-4ADF-AB67-2C09C8B567BF}"/>
              </a:ext>
            </a:extLst>
          </p:cNvPr>
          <p:cNvSpPr>
            <a:spLocks noGrp="1"/>
          </p:cNvSpPr>
          <p:nvPr/>
        </p:nvSpPr>
        <p:spPr>
          <a:xfrm>
            <a:off x="3943350" y="4019550"/>
            <a:ext cx="1276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3E6EF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E6EF3"/>
                </a:solidFill>
                <a:latin typeface="Aptos"/>
                <a:ea typeface="Aptos"/>
                <a:cs typeface="Aptos"/>
              </a:rPr>
              <a:t>Stripe checkout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53A1FC-DE81-460E-B0BE-40AB23010A29}"/>
              </a:ext>
            </a:extLst>
          </p:cNvPr>
          <p:cNvSpPr>
            <a:spLocks noGrp="1"/>
          </p:cNvSpPr>
          <p:nvPr/>
        </p:nvSpPr>
        <p:spPr>
          <a:xfrm>
            <a:off x="609600" y="4419600"/>
            <a:ext cx="1581150" cy="323850"/>
          </a:xfrm>
          <a:prstGeom prst="roundRect">
            <a:avLst>
              <a:gd name="adj" fmla="val 23529"/>
            </a:avLst>
          </a:prstGeom>
          <a:solidFill>
            <a:srgbClr val="F9E8E0"/>
          </a:solidFill>
          <a:ln w="9525">
            <a:solidFill>
              <a:srgbClr val="F9E8E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BDC882-45EE-461B-9C9A-307B8CA0675D}"/>
              </a:ext>
            </a:extLst>
          </p:cNvPr>
          <p:cNvSpPr>
            <a:spLocks noGrp="1"/>
          </p:cNvSpPr>
          <p:nvPr/>
        </p:nvSpPr>
        <p:spPr>
          <a:xfrm>
            <a:off x="685800" y="4438650"/>
            <a:ext cx="14287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B45E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45E2A"/>
                </a:solidFill>
                <a:latin typeface="Aptos"/>
                <a:ea typeface="Aptos"/>
                <a:cs typeface="Aptos"/>
              </a:rPr>
              <a:t>Responsive UI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365277F-B589-4BD9-9353-C779084C67D6}"/>
              </a:ext>
            </a:extLst>
          </p:cNvPr>
          <p:cNvSpPr>
            <a:spLocks noGrp="1"/>
          </p:cNvSpPr>
          <p:nvPr/>
        </p:nvSpPr>
        <p:spPr>
          <a:xfrm>
            <a:off x="2305050" y="4419600"/>
            <a:ext cx="1676400" cy="323850"/>
          </a:xfrm>
          <a:prstGeom prst="roundRect">
            <a:avLst>
              <a:gd name="adj" fmla="val 23529"/>
            </a:avLst>
          </a:prstGeom>
          <a:solidFill>
            <a:srgbClr val="EFE8FB"/>
          </a:solidFill>
          <a:ln w="9525">
            <a:solidFill>
              <a:srgbClr val="EFE8F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6498FE-7368-4A98-A5EC-E96B07997FE7}"/>
              </a:ext>
            </a:extLst>
          </p:cNvPr>
          <p:cNvSpPr>
            <a:spLocks noGrp="1"/>
          </p:cNvSpPr>
          <p:nvPr/>
        </p:nvSpPr>
        <p:spPr>
          <a:xfrm>
            <a:off x="2381250" y="4438650"/>
            <a:ext cx="1524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6C42C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C42CC"/>
                </a:solidFill>
                <a:latin typeface="Aptos"/>
                <a:ea typeface="Aptos"/>
                <a:cs typeface="Aptos"/>
              </a:rPr>
              <a:t>Render + Netlify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472BB5-86F2-4E8F-9207-1461140307E3}"/>
              </a:ext>
            </a:extLst>
          </p:cNvPr>
          <p:cNvSpPr>
            <a:spLocks noGrp="1"/>
          </p:cNvSpPr>
          <p:nvPr/>
        </p:nvSpPr>
        <p:spPr>
          <a:xfrm>
            <a:off x="4095750" y="4419600"/>
            <a:ext cx="1466850" cy="323850"/>
          </a:xfrm>
          <a:prstGeom prst="roundRect">
            <a:avLst>
              <a:gd name="adj" fmla="val 23529"/>
            </a:avLst>
          </a:prstGeom>
          <a:solidFill>
            <a:srgbClr val="E6F1EA"/>
          </a:solidFill>
          <a:ln w="9525">
            <a:solidFill>
              <a:srgbClr val="E6F1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4DCB34-C8DA-4518-8FEF-23D5C5E9EB47}"/>
              </a:ext>
            </a:extLst>
          </p:cNvPr>
          <p:cNvSpPr>
            <a:spLocks noGrp="1"/>
          </p:cNvSpPr>
          <p:nvPr/>
        </p:nvSpPr>
        <p:spPr>
          <a:xfrm>
            <a:off x="4171950" y="4438650"/>
            <a:ext cx="1314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A4A"/>
                </a:solidFill>
                <a:latin typeface="Aptos"/>
                <a:ea typeface="Aptos"/>
                <a:cs typeface="Aptos"/>
              </a:rPr>
              <a:t>Admin tools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F30C39-341C-4963-94EE-FD3478D5E4C0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4667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6EDE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6EDE9"/>
                </a:solidFill>
                <a:latin typeface="Aptos"/>
                <a:ea typeface="Aptos"/>
                <a:cs typeface="Aptos"/>
              </a:rPr>
              <a:t>Mobile-first commerce, secure payment flows, and a clean submission story in one deck.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FCAD0E5-BE70-481E-805F-FC19F1357115}"/>
              </a:ext>
            </a:extLst>
          </p:cNvPr>
          <p:cNvSpPr>
            <a:spLocks noGrp="1"/>
          </p:cNvSpPr>
          <p:nvPr/>
        </p:nvSpPr>
        <p:spPr>
          <a:xfrm>
            <a:off x="6515100" y="666750"/>
            <a:ext cx="5143500" cy="5505450"/>
          </a:xfrm>
          <a:prstGeom prst="roundRect">
            <a:avLst>
              <a:gd name="adj" fmla="val 1481"/>
            </a:avLst>
          </a:prstGeom>
          <a:solidFill>
            <a:srgbClr val="F7F2E8"/>
          </a:solidFill>
          <a:ln w="9525">
            <a:solidFill>
              <a:srgbClr val="E3DA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1272E87-82BD-46B7-A89F-D1EF6A348970}"/>
              </a:ext>
            </a:extLst>
          </p:cNvPr>
          <p:cNvSpPr>
            <a:spLocks noGrp="1"/>
          </p:cNvSpPr>
          <p:nvPr/>
        </p:nvSpPr>
        <p:spPr>
          <a:xfrm>
            <a:off x="6724650" y="876300"/>
            <a:ext cx="2247900" cy="1524000"/>
          </a:xfrm>
          <a:prstGeom prst="roundRect">
            <a:avLst>
              <a:gd name="adj" fmla="val 5000"/>
            </a:avLst>
          </a:prstGeom>
          <a:solidFill>
            <a:srgbClr val="EAF2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0F0A0D1-3F77-4728-B2DA-71C387517023}"/>
              </a:ext>
            </a:extLst>
          </p:cNvPr>
          <p:cNvSpPr>
            <a:spLocks noGrp="1"/>
          </p:cNvSpPr>
          <p:nvPr/>
        </p:nvSpPr>
        <p:spPr>
          <a:xfrm>
            <a:off x="6877050" y="1009650"/>
            <a:ext cx="57150" cy="125730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F178E3-F444-4AFE-8E71-5ADBD8B85EAD}"/>
              </a:ext>
            </a:extLst>
          </p:cNvPr>
          <p:cNvSpPr>
            <a:spLocks noGrp="1"/>
          </p:cNvSpPr>
          <p:nvPr/>
        </p:nvSpPr>
        <p:spPr>
          <a:xfrm>
            <a:off x="7029450" y="10477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Buyer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ACB36A-AD5F-4B55-A7D3-5E952DD89B84}"/>
              </a:ext>
            </a:extLst>
          </p:cNvPr>
          <p:cNvSpPr>
            <a:spLocks noGrp="1"/>
          </p:cNvSpPr>
          <p:nvPr/>
        </p:nvSpPr>
        <p:spPr>
          <a:xfrm>
            <a:off x="7029450" y="1390650"/>
            <a:ext cx="1790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D5E5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D5E56"/>
                </a:solidFill>
                <a:latin typeface="Aptos"/>
                <a:ea typeface="Aptos"/>
                <a:cs typeface="Aptos"/>
              </a:rPr>
              <a:t>Browse, compare, add to cart, and pay with confidence.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9A7B052-0258-436F-9222-30FADE4EBA5A}"/>
              </a:ext>
            </a:extLst>
          </p:cNvPr>
          <p:cNvSpPr>
            <a:spLocks noGrp="1"/>
          </p:cNvSpPr>
          <p:nvPr/>
        </p:nvSpPr>
        <p:spPr>
          <a:xfrm>
            <a:off x="9201150" y="876300"/>
            <a:ext cx="2247900" cy="1524000"/>
          </a:xfrm>
          <a:prstGeom prst="roundRect">
            <a:avLst>
              <a:gd name="adj" fmla="val 5000"/>
            </a:avLst>
          </a:prstGeom>
          <a:solidFill>
            <a:srgbClr val="FFF1D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0815A46-89E3-43B3-B424-61FC891DA98B}"/>
              </a:ext>
            </a:extLst>
          </p:cNvPr>
          <p:cNvSpPr>
            <a:spLocks noGrp="1"/>
          </p:cNvSpPr>
          <p:nvPr/>
        </p:nvSpPr>
        <p:spPr>
          <a:xfrm>
            <a:off x="9353550" y="1009650"/>
            <a:ext cx="57150" cy="125730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DBBDFE-B260-42B3-8F5C-F6AEF3F8143B}"/>
              </a:ext>
            </a:extLst>
          </p:cNvPr>
          <p:cNvSpPr>
            <a:spLocks noGrp="1"/>
          </p:cNvSpPr>
          <p:nvPr/>
        </p:nvSpPr>
        <p:spPr>
          <a:xfrm>
            <a:off x="9505950" y="10477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Farmer path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BC50B8-1CB5-4428-A81D-DE238FC803A0}"/>
              </a:ext>
            </a:extLst>
          </p:cNvPr>
          <p:cNvSpPr>
            <a:spLocks noGrp="1"/>
          </p:cNvSpPr>
          <p:nvPr/>
        </p:nvSpPr>
        <p:spPr>
          <a:xfrm>
            <a:off x="9505950" y="1390650"/>
            <a:ext cx="1790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D5E5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D5E56"/>
                </a:solidFill>
                <a:latin typeface="Aptos"/>
                <a:ea typeface="Aptos"/>
                <a:cs typeface="Aptos"/>
              </a:rPr>
              <a:t>List produce, manage stock, and follow orders in real time.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FC36CF0-92DD-428C-8070-6B150A8B9225}"/>
              </a:ext>
            </a:extLst>
          </p:cNvPr>
          <p:cNvSpPr>
            <a:spLocks noGrp="1"/>
          </p:cNvSpPr>
          <p:nvPr/>
        </p:nvSpPr>
        <p:spPr>
          <a:xfrm>
            <a:off x="6724650" y="2647950"/>
            <a:ext cx="2247900" cy="1524000"/>
          </a:xfrm>
          <a:prstGeom prst="roundRect">
            <a:avLst>
              <a:gd name="adj" fmla="val 5000"/>
            </a:avLst>
          </a:prstGeom>
          <a:solidFill>
            <a:srgbClr val="E8EEF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03DE90B-9AD9-4B33-8C78-321B996B052D}"/>
              </a:ext>
            </a:extLst>
          </p:cNvPr>
          <p:cNvSpPr>
            <a:spLocks noGrp="1"/>
          </p:cNvSpPr>
          <p:nvPr/>
        </p:nvSpPr>
        <p:spPr>
          <a:xfrm>
            <a:off x="6877050" y="2781300"/>
            <a:ext cx="57150" cy="125730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C5424C-A95A-455A-95F2-2B18AF2F8D86}"/>
              </a:ext>
            </a:extLst>
          </p:cNvPr>
          <p:cNvSpPr>
            <a:spLocks noGrp="1"/>
          </p:cNvSpPr>
          <p:nvPr/>
        </p:nvSpPr>
        <p:spPr>
          <a:xfrm>
            <a:off x="7029450" y="28194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Secure checkout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773D05-92C1-46CB-B9AE-6CFA12A0FAA4}"/>
              </a:ext>
            </a:extLst>
          </p:cNvPr>
          <p:cNvSpPr>
            <a:spLocks noGrp="1"/>
          </p:cNvSpPr>
          <p:nvPr/>
        </p:nvSpPr>
        <p:spPr>
          <a:xfrm>
            <a:off x="7029450" y="3162300"/>
            <a:ext cx="1790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D5E5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D5E56"/>
                </a:solidFill>
                <a:latin typeface="Aptos"/>
                <a:ea typeface="Aptos"/>
                <a:cs typeface="Aptos"/>
              </a:rPr>
              <a:t>Stripe card checkout plus mobile-money and manual options.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08F42FA-CA51-47BF-8F5E-9451DC3AB9CA}"/>
              </a:ext>
            </a:extLst>
          </p:cNvPr>
          <p:cNvSpPr>
            <a:spLocks noGrp="1"/>
          </p:cNvSpPr>
          <p:nvPr/>
        </p:nvSpPr>
        <p:spPr>
          <a:xfrm>
            <a:off x="9201150" y="2647950"/>
            <a:ext cx="2247900" cy="1524000"/>
          </a:xfrm>
          <a:prstGeom prst="roundRect">
            <a:avLst>
              <a:gd name="adj" fmla="val 5000"/>
            </a:avLst>
          </a:prstGeom>
          <a:solidFill>
            <a:srgbClr val="F9E6E6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07B13C0-BDF5-46D3-BA0D-5F7B430442A9}"/>
              </a:ext>
            </a:extLst>
          </p:cNvPr>
          <p:cNvSpPr>
            <a:spLocks noGrp="1"/>
          </p:cNvSpPr>
          <p:nvPr/>
        </p:nvSpPr>
        <p:spPr>
          <a:xfrm>
            <a:off x="9353550" y="2781300"/>
            <a:ext cx="57150" cy="1257300"/>
          </a:xfrm>
          <a:prstGeom prst="roundRect">
            <a:avLst>
              <a:gd name="adj" fmla="val 50000"/>
            </a:avLst>
          </a:prstGeom>
          <a:solidFill>
            <a:srgbClr val="C04A3A"/>
          </a:solidFill>
          <a:ln w="0">
            <a:solidFill>
              <a:srgbClr val="C04A3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62C7CF6-FBE6-469D-9A4F-D6EF4672E462}"/>
              </a:ext>
            </a:extLst>
          </p:cNvPr>
          <p:cNvSpPr>
            <a:spLocks noGrp="1"/>
          </p:cNvSpPr>
          <p:nvPr/>
        </p:nvSpPr>
        <p:spPr>
          <a:xfrm>
            <a:off x="9505950" y="28194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Deployment ready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1CA27C-237A-477F-AB44-F9D49D8B1A61}"/>
              </a:ext>
            </a:extLst>
          </p:cNvPr>
          <p:cNvSpPr>
            <a:spLocks noGrp="1"/>
          </p:cNvSpPr>
          <p:nvPr/>
        </p:nvSpPr>
        <p:spPr>
          <a:xfrm>
            <a:off x="9505950" y="3162300"/>
            <a:ext cx="17907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4D5E5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D5E56"/>
                </a:solidFill>
                <a:latin typeface="Aptos"/>
                <a:ea typeface="Aptos"/>
                <a:cs typeface="Aptos"/>
              </a:rPr>
              <a:t>Render API, Neon PostgreSQL, and Netlify web frontend.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3B17E31-B1CF-438E-A6F2-0C6A3177EF6A}"/>
              </a:ext>
            </a:extLst>
          </p:cNvPr>
          <p:cNvSpPr>
            <a:spLocks noGrp="1"/>
          </p:cNvSpPr>
          <p:nvPr/>
        </p:nvSpPr>
        <p:spPr>
          <a:xfrm>
            <a:off x="10287000" y="5467350"/>
            <a:ext cx="1028700" cy="285750"/>
          </a:xfrm>
          <a:prstGeom prst="roundRect">
            <a:avLst>
              <a:gd name="adj" fmla="val 26667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</p:spTree>
    <p:extLst>
      <p:ext uri="{BB962C8B-B14F-4D97-AF65-F5344CB8AC3E}">
        <p14:creationId xmlns:p14="http://schemas.microsoft.com/office/powerpoint/2010/main" val="53562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3CFDA7B-85B5-478E-AB33-85F1216758FF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5C9260F-E7D8-4FAA-92F8-800F8AC2E27B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90394C-6313-4D2F-BA79-0F6CE3E5EF50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PROJECT BRIEF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3324F6-EBF1-4BB2-A114-15A1F2A04530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brief turns into a working commerce flow.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63F550-D486-4C9F-82D6-842EECE8F693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B5C5DF-0692-4ECC-A8EB-B648776769BE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02 / 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2C65A3-4D97-4B37-9DD5-55F935C2851D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C86B86-ED9F-44D9-84B2-14BDF85EEFF5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02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D6A6CA-3FFE-4F99-B0CC-35DF2EB5C6A6}"/>
              </a:ext>
            </a:extLst>
          </p:cNvPr>
          <p:cNvSpPr>
            <a:spLocks noGrp="1"/>
          </p:cNvSpPr>
          <p:nvPr/>
        </p:nvSpPr>
        <p:spPr>
          <a:xfrm>
            <a:off x="342900" y="1676400"/>
            <a:ext cx="4953000" cy="445770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813114-0EF9-4E45-9AF5-1E9234E9D5F0}"/>
              </a:ext>
            </a:extLst>
          </p:cNvPr>
          <p:cNvSpPr>
            <a:spLocks noGrp="1"/>
          </p:cNvSpPr>
          <p:nvPr/>
        </p:nvSpPr>
        <p:spPr>
          <a:xfrm>
            <a:off x="495300" y="1809750"/>
            <a:ext cx="57150" cy="419100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AFBBE4-D9FF-44A3-B42E-F0A0E9B8B734}"/>
              </a:ext>
            </a:extLst>
          </p:cNvPr>
          <p:cNvSpPr>
            <a:spLocks noGrp="1"/>
          </p:cNvSpPr>
          <p:nvPr/>
        </p:nvSpPr>
        <p:spPr>
          <a:xfrm>
            <a:off x="647700" y="1847850"/>
            <a:ext cx="4495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Minimum app screens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74447F-3F27-4249-BD90-DFE24C365911}"/>
              </a:ext>
            </a:extLst>
          </p:cNvPr>
          <p:cNvSpPr>
            <a:spLocks noGrp="1"/>
          </p:cNvSpPr>
          <p:nvPr/>
        </p:nvSpPr>
        <p:spPr>
          <a:xfrm>
            <a:off x="647700" y="2324100"/>
            <a:ext cx="44958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Splash screen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Login / Register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Home product listing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Product details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Cart and checkout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Farmer dashboard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Order history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0FB59D-5E47-45A1-A852-45B862C87924}"/>
              </a:ext>
            </a:extLst>
          </p:cNvPr>
          <p:cNvSpPr>
            <a:spLocks noGrp="1"/>
          </p:cNvSpPr>
          <p:nvPr/>
        </p:nvSpPr>
        <p:spPr>
          <a:xfrm>
            <a:off x="5600700" y="1676400"/>
            <a:ext cx="2571750" cy="2038350"/>
          </a:xfrm>
          <a:prstGeom prst="roundRect">
            <a:avLst>
              <a:gd name="adj" fmla="val 3738"/>
            </a:avLst>
          </a:prstGeom>
          <a:solidFill>
            <a:srgbClr val="EAF2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57F088-82AF-48CA-9039-53339622CEA2}"/>
              </a:ext>
            </a:extLst>
          </p:cNvPr>
          <p:cNvSpPr>
            <a:spLocks noGrp="1"/>
          </p:cNvSpPr>
          <p:nvPr/>
        </p:nvSpPr>
        <p:spPr>
          <a:xfrm>
            <a:off x="5753100" y="1809750"/>
            <a:ext cx="57150" cy="177165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4CE3CA-9BDC-4B56-A72A-D979D50D33BB}"/>
              </a:ext>
            </a:extLst>
          </p:cNvPr>
          <p:cNvSpPr>
            <a:spLocks noGrp="1"/>
          </p:cNvSpPr>
          <p:nvPr/>
        </p:nvSpPr>
        <p:spPr>
          <a:xfrm>
            <a:off x="5905500" y="184785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Working application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69A98E-41D5-44FF-B91B-A0540181E31C}"/>
              </a:ext>
            </a:extLst>
          </p:cNvPr>
          <p:cNvSpPr>
            <a:spLocks noGrp="1"/>
          </p:cNvSpPr>
          <p:nvPr/>
        </p:nvSpPr>
        <p:spPr>
          <a:xfrm>
            <a:off x="5905500" y="2228850"/>
            <a:ext cx="211455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Transform the brief into a real mobile commerce app.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F01918-6850-4E4A-A746-87C84DEC0F4A}"/>
              </a:ext>
            </a:extLst>
          </p:cNvPr>
          <p:cNvSpPr>
            <a:spLocks noGrp="1"/>
          </p:cNvSpPr>
          <p:nvPr/>
        </p:nvSpPr>
        <p:spPr>
          <a:xfrm>
            <a:off x="8439150" y="1676400"/>
            <a:ext cx="3390900" cy="2038350"/>
          </a:xfrm>
          <a:prstGeom prst="roundRect">
            <a:avLst>
              <a:gd name="adj" fmla="val 3738"/>
            </a:avLst>
          </a:prstGeom>
          <a:solidFill>
            <a:srgbClr val="FFF1D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2DE929D-A253-41AC-B22F-DC9874688EED}"/>
              </a:ext>
            </a:extLst>
          </p:cNvPr>
          <p:cNvSpPr>
            <a:spLocks noGrp="1"/>
          </p:cNvSpPr>
          <p:nvPr/>
        </p:nvSpPr>
        <p:spPr>
          <a:xfrm>
            <a:off x="8591550" y="1809750"/>
            <a:ext cx="57150" cy="177165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E61B67-24BE-4BEB-B21A-CDD10AF673F1}"/>
              </a:ext>
            </a:extLst>
          </p:cNvPr>
          <p:cNvSpPr>
            <a:spLocks noGrp="1"/>
          </p:cNvSpPr>
          <p:nvPr/>
        </p:nvSpPr>
        <p:spPr>
          <a:xfrm>
            <a:off x="8743950" y="184785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Backend and persistence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CDC9C3-DD70-4401-8E92-44A87E5ED855}"/>
              </a:ext>
            </a:extLst>
          </p:cNvPr>
          <p:cNvSpPr>
            <a:spLocks noGrp="1"/>
          </p:cNvSpPr>
          <p:nvPr/>
        </p:nvSpPr>
        <p:spPr>
          <a:xfrm>
            <a:off x="8743950" y="2228850"/>
            <a:ext cx="293370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Use Express and PostgreSQL so the app keeps users, products, orders, and payments.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B98D2AB-3071-4833-9344-719825666382}"/>
              </a:ext>
            </a:extLst>
          </p:cNvPr>
          <p:cNvSpPr>
            <a:spLocks noGrp="1"/>
          </p:cNvSpPr>
          <p:nvPr/>
        </p:nvSpPr>
        <p:spPr>
          <a:xfrm>
            <a:off x="5600700" y="3943350"/>
            <a:ext cx="2571750" cy="2190750"/>
          </a:xfrm>
          <a:prstGeom prst="roundRect">
            <a:avLst>
              <a:gd name="adj" fmla="val 3478"/>
            </a:avLst>
          </a:prstGeom>
          <a:solidFill>
            <a:srgbClr val="E8EEF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E6B866-9435-4624-BAC1-E31CB66479C4}"/>
              </a:ext>
            </a:extLst>
          </p:cNvPr>
          <p:cNvSpPr>
            <a:spLocks noGrp="1"/>
          </p:cNvSpPr>
          <p:nvPr/>
        </p:nvSpPr>
        <p:spPr>
          <a:xfrm>
            <a:off x="5753100" y="4076700"/>
            <a:ext cx="57150" cy="192405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5B8797-BD48-4A2B-9302-E83F60F97277}"/>
              </a:ext>
            </a:extLst>
          </p:cNvPr>
          <p:cNvSpPr>
            <a:spLocks noGrp="1"/>
          </p:cNvSpPr>
          <p:nvPr/>
        </p:nvSpPr>
        <p:spPr>
          <a:xfrm>
            <a:off x="5905500" y="4114800"/>
            <a:ext cx="2114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Real payment flow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417A58-F12E-4673-9802-B507054FAA89}"/>
              </a:ext>
            </a:extLst>
          </p:cNvPr>
          <p:cNvSpPr>
            <a:spLocks noGrp="1"/>
          </p:cNvSpPr>
          <p:nvPr/>
        </p:nvSpPr>
        <p:spPr>
          <a:xfrm>
            <a:off x="5905500" y="4495800"/>
            <a:ext cx="2114550" cy="144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Stripe test checkout plus simulated mobile-money and manual payment methods.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74D150D-0931-405A-A675-F885A647958F}"/>
              </a:ext>
            </a:extLst>
          </p:cNvPr>
          <p:cNvSpPr>
            <a:spLocks noGrp="1"/>
          </p:cNvSpPr>
          <p:nvPr/>
        </p:nvSpPr>
        <p:spPr>
          <a:xfrm>
            <a:off x="8439150" y="3943350"/>
            <a:ext cx="3390900" cy="2190750"/>
          </a:xfrm>
          <a:prstGeom prst="roundRect">
            <a:avLst>
              <a:gd name="adj" fmla="val 3478"/>
            </a:avLst>
          </a:prstGeom>
          <a:solidFill>
            <a:srgbClr val="F9E6E6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3100803-6AB9-48B0-8D20-B229212C3A8F}"/>
              </a:ext>
            </a:extLst>
          </p:cNvPr>
          <p:cNvSpPr>
            <a:spLocks noGrp="1"/>
          </p:cNvSpPr>
          <p:nvPr/>
        </p:nvSpPr>
        <p:spPr>
          <a:xfrm>
            <a:off x="8591550" y="4076700"/>
            <a:ext cx="57150" cy="1924050"/>
          </a:xfrm>
          <a:prstGeom prst="roundRect">
            <a:avLst>
              <a:gd name="adj" fmla="val 50000"/>
            </a:avLst>
          </a:prstGeom>
          <a:solidFill>
            <a:srgbClr val="C04A3A"/>
          </a:solidFill>
          <a:ln w="0">
            <a:solidFill>
              <a:srgbClr val="C04A3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11280A-EE86-43F1-8AED-941B55B06612}"/>
              </a:ext>
            </a:extLst>
          </p:cNvPr>
          <p:cNvSpPr>
            <a:spLocks noGrp="1"/>
          </p:cNvSpPr>
          <p:nvPr/>
        </p:nvSpPr>
        <p:spPr>
          <a:xfrm>
            <a:off x="8743950" y="4114800"/>
            <a:ext cx="2933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Presentation ready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36E85C-4057-4206-B85C-285C925A48D7}"/>
              </a:ext>
            </a:extLst>
          </p:cNvPr>
          <p:cNvSpPr>
            <a:spLocks noGrp="1"/>
          </p:cNvSpPr>
          <p:nvPr/>
        </p:nvSpPr>
        <p:spPr>
          <a:xfrm>
            <a:off x="8743950" y="4495800"/>
            <a:ext cx="2933700" cy="1447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Deployment notes, documentation, and a clear demo path for the panel.</a:t>
            </a:r>
          </a:p>
        </p:txBody>
      </p:sp>
    </p:spTree>
    <p:extLst>
      <p:ext uri="{BB962C8B-B14F-4D97-AF65-F5344CB8AC3E}">
        <p14:creationId xmlns:p14="http://schemas.microsoft.com/office/powerpoint/2010/main" val="1807400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4A4B855-5921-4FB2-918E-6EC78B6DDBA8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0720CE9-9F1F-4B29-BAA7-5D8AB4F8F087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B3BA17-AB81-4BC4-AD7C-BE44705386EC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3EF6F6-7027-4D78-B66C-DDE2F61E775F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API, three layers.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37947-7F76-4339-AC59-367A04AEA764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5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F0E8"/>
                </a:solidFill>
                <a:latin typeface="Aptos"/>
                <a:ea typeface="Aptos"/>
                <a:cs typeface="Aptos"/>
              </a:rPr>
              <a:t>The frontend, backend, and database are separated so the app stays responsive and scalable.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935EEB-DFFD-4FC9-AF3D-81EB480BA2FD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E0598-7B5D-4A4B-88D7-56D11F8C4201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03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FBF9EB-3346-441D-A207-79BA24AFF5AA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5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56D"/>
                </a:solidFill>
                <a:latin typeface="Aptos"/>
                <a:ea typeface="Aptos"/>
                <a:cs typeface="Aptos"/>
              </a:rPr>
              <a:t>Farmer Marketplace • Presentation deck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1D09614-AD99-4AA6-BC6B-406B8111F9DE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35DD1A-2AD3-4E60-BDC8-CB8730DEF2A5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03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CAF4DF5-2AFC-46C2-977F-4AD40A5406E0}"/>
              </a:ext>
            </a:extLst>
          </p:cNvPr>
          <p:cNvSpPr>
            <a:spLocks noGrp="1"/>
          </p:cNvSpPr>
          <p:nvPr/>
        </p:nvSpPr>
        <p:spPr>
          <a:xfrm>
            <a:off x="457200" y="2000250"/>
            <a:ext cx="3200400" cy="2419350"/>
          </a:xfrm>
          <a:prstGeom prst="roundRect">
            <a:avLst>
              <a:gd name="adj" fmla="val 3150"/>
            </a:avLst>
          </a:prstGeom>
          <a:solidFill>
            <a:srgbClr val="EAF2EA"/>
          </a:solidFill>
          <a:ln w="9525">
            <a:solidFill>
              <a:srgbClr val="D9E5D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4CEB27-87F0-49A1-A568-A9B83707D259}"/>
              </a:ext>
            </a:extLst>
          </p:cNvPr>
          <p:cNvSpPr>
            <a:spLocks noGrp="1"/>
          </p:cNvSpPr>
          <p:nvPr/>
        </p:nvSpPr>
        <p:spPr>
          <a:xfrm>
            <a:off x="609600" y="2133600"/>
            <a:ext cx="57150" cy="215265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4FF71D-A518-4043-B673-3938BCFADDAE}"/>
              </a:ext>
            </a:extLst>
          </p:cNvPr>
          <p:cNvSpPr>
            <a:spLocks noGrp="1"/>
          </p:cNvSpPr>
          <p:nvPr/>
        </p:nvSpPr>
        <p:spPr>
          <a:xfrm>
            <a:off x="762000" y="2171700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Expo app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F228AB-01E4-4D74-85A0-C85ADE626ADD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27432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Role-based navigation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Product browsing and search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Cart, checkout, and dashboard screens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Responsive mobile + web UI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E080AA-2757-4162-AF3C-7F3F66681B85}"/>
              </a:ext>
            </a:extLst>
          </p:cNvPr>
          <p:cNvSpPr>
            <a:spLocks noGrp="1"/>
          </p:cNvSpPr>
          <p:nvPr/>
        </p:nvSpPr>
        <p:spPr>
          <a:xfrm>
            <a:off x="3886200" y="2895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DF3EA"/>
          </a:solidFill>
          <a:ln w="9525">
            <a:solidFill>
              <a:srgbClr val="EDF3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F4CF85-8C4B-46BF-B2F5-79D42C197961}"/>
              </a:ext>
            </a:extLst>
          </p:cNvPr>
          <p:cNvSpPr>
            <a:spLocks noGrp="1"/>
          </p:cNvSpPr>
          <p:nvPr/>
        </p:nvSpPr>
        <p:spPr>
          <a:xfrm>
            <a:off x="3962400" y="2914650"/>
            <a:ext cx="19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A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A0F3AE-E2F9-4B0F-A945-50D2E869855D}"/>
              </a:ext>
            </a:extLst>
          </p:cNvPr>
          <p:cNvSpPr>
            <a:spLocks noGrp="1"/>
          </p:cNvSpPr>
          <p:nvPr/>
        </p:nvSpPr>
        <p:spPr>
          <a:xfrm>
            <a:off x="4343400" y="2000250"/>
            <a:ext cx="3200400" cy="2419350"/>
          </a:xfrm>
          <a:prstGeom prst="roundRect">
            <a:avLst>
              <a:gd name="adj" fmla="val 3150"/>
            </a:avLst>
          </a:prstGeom>
          <a:solidFill>
            <a:srgbClr val="FFF1D9"/>
          </a:solidFill>
          <a:ln w="9525">
            <a:solidFill>
              <a:srgbClr val="E9D9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0C34469-A072-472B-9457-54D57CFD66F3}"/>
              </a:ext>
            </a:extLst>
          </p:cNvPr>
          <p:cNvSpPr>
            <a:spLocks noGrp="1"/>
          </p:cNvSpPr>
          <p:nvPr/>
        </p:nvSpPr>
        <p:spPr>
          <a:xfrm>
            <a:off x="4495800" y="2133600"/>
            <a:ext cx="57150" cy="215265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ADE173-4074-4E3E-99B5-EAC15B5A43EC}"/>
              </a:ext>
            </a:extLst>
          </p:cNvPr>
          <p:cNvSpPr>
            <a:spLocks noGrp="1"/>
          </p:cNvSpPr>
          <p:nvPr/>
        </p:nvSpPr>
        <p:spPr>
          <a:xfrm>
            <a:off x="4648200" y="2171700"/>
            <a:ext cx="2743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AFDB4F-C06F-462B-844A-7A6600B89C5B}"/>
              </a:ext>
            </a:extLst>
          </p:cNvPr>
          <p:cNvSpPr>
            <a:spLocks noGrp="1"/>
          </p:cNvSpPr>
          <p:nvPr/>
        </p:nvSpPr>
        <p:spPr>
          <a:xfrm>
            <a:off x="4648200" y="2647950"/>
            <a:ext cx="27432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JWT authentication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Product CRUD and order lifecycle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Reviews, analytics, and moderation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Stripe webhooks and checkout sessions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30FBF8C-3ACB-46EE-BBFE-97F600AEB21F}"/>
              </a:ext>
            </a:extLst>
          </p:cNvPr>
          <p:cNvSpPr>
            <a:spLocks noGrp="1"/>
          </p:cNvSpPr>
          <p:nvPr/>
        </p:nvSpPr>
        <p:spPr>
          <a:xfrm>
            <a:off x="7772400" y="28956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DF3EA"/>
          </a:solidFill>
          <a:ln w="9525">
            <a:solidFill>
              <a:srgbClr val="EDF3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8C784A-1890-4222-9B59-3BC9228D8676}"/>
              </a:ext>
            </a:extLst>
          </p:cNvPr>
          <p:cNvSpPr>
            <a:spLocks noGrp="1"/>
          </p:cNvSpPr>
          <p:nvPr/>
        </p:nvSpPr>
        <p:spPr>
          <a:xfrm>
            <a:off x="7848600" y="2914650"/>
            <a:ext cx="19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A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128B77E-C734-45DC-8F6D-D86EC0EC2CF6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3505200" cy="2419350"/>
          </a:xfrm>
          <a:prstGeom prst="roundRect">
            <a:avLst>
              <a:gd name="adj" fmla="val 3150"/>
            </a:avLst>
          </a:prstGeom>
          <a:solidFill>
            <a:srgbClr val="E8EEF9"/>
          </a:solidFill>
          <a:ln w="9525">
            <a:solidFill>
              <a:srgbClr val="D7E0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4FAA9BF-AB34-4086-9B85-5247795AA0F2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57150" cy="215265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455EC7-342A-4A83-B7E8-D17549DBE83F}"/>
              </a:ext>
            </a:extLst>
          </p:cNvPr>
          <p:cNvSpPr>
            <a:spLocks noGrp="1"/>
          </p:cNvSpPr>
          <p:nvPr/>
        </p:nvSpPr>
        <p:spPr>
          <a:xfrm>
            <a:off x="8534400" y="217170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PostgreSQL + Stripe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E8957C-4F3E-4065-9C29-E6F60D462AED}"/>
              </a:ext>
            </a:extLst>
          </p:cNvPr>
          <p:cNvSpPr>
            <a:spLocks noGrp="1"/>
          </p:cNvSpPr>
          <p:nvPr/>
        </p:nvSpPr>
        <p:spPr>
          <a:xfrm>
            <a:off x="8534400" y="2647950"/>
            <a:ext cx="3048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Users, products, orders, and payments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Neon for production hosting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pgAdmin4-compatible schema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Secure hosted payment confirmation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EAE2320-FD0E-4AFA-9881-78D8498CDDB6}"/>
              </a:ext>
            </a:extLst>
          </p:cNvPr>
          <p:cNvSpPr>
            <a:spLocks noGrp="1"/>
          </p:cNvSpPr>
          <p:nvPr/>
        </p:nvSpPr>
        <p:spPr>
          <a:xfrm>
            <a:off x="628650" y="4781550"/>
            <a:ext cx="70485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9F9AF1-78C2-4B21-8077-CBCB112EB923}"/>
              </a:ext>
            </a:extLst>
          </p:cNvPr>
          <p:cNvSpPr>
            <a:spLocks noGrp="1"/>
          </p:cNvSpPr>
          <p:nvPr/>
        </p:nvSpPr>
        <p:spPr>
          <a:xfrm>
            <a:off x="704850" y="48006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Auth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D22575-0005-405A-9470-BE109957FFC6}"/>
              </a:ext>
            </a:extLst>
          </p:cNvPr>
          <p:cNvSpPr>
            <a:spLocks noGrp="1"/>
          </p:cNvSpPr>
          <p:nvPr/>
        </p:nvSpPr>
        <p:spPr>
          <a:xfrm>
            <a:off x="1485900" y="4781550"/>
            <a:ext cx="70485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9AAAC4-3CEA-4659-B57D-85297274A305}"/>
              </a:ext>
            </a:extLst>
          </p:cNvPr>
          <p:cNvSpPr>
            <a:spLocks noGrp="1"/>
          </p:cNvSpPr>
          <p:nvPr/>
        </p:nvSpPr>
        <p:spPr>
          <a:xfrm>
            <a:off x="1562100" y="48006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73C7139-5D30-4773-B07A-31BE69905315}"/>
              </a:ext>
            </a:extLst>
          </p:cNvPr>
          <p:cNvSpPr>
            <a:spLocks noGrp="1"/>
          </p:cNvSpPr>
          <p:nvPr/>
        </p:nvSpPr>
        <p:spPr>
          <a:xfrm>
            <a:off x="2438400" y="4781550"/>
            <a:ext cx="70485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218A7B0-5F4F-4BD0-92EC-48F20B29BC62}"/>
              </a:ext>
            </a:extLst>
          </p:cNvPr>
          <p:cNvSpPr>
            <a:spLocks noGrp="1"/>
          </p:cNvSpPr>
          <p:nvPr/>
        </p:nvSpPr>
        <p:spPr>
          <a:xfrm>
            <a:off x="2514600" y="48006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1876688-0590-41B4-B4A0-719F3DE90532}"/>
              </a:ext>
            </a:extLst>
          </p:cNvPr>
          <p:cNvSpPr>
            <a:spLocks noGrp="1"/>
          </p:cNvSpPr>
          <p:nvPr/>
        </p:nvSpPr>
        <p:spPr>
          <a:xfrm>
            <a:off x="4914900" y="4781550"/>
            <a:ext cx="70485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74A188A-CD31-47A8-8653-37B6230F3177}"/>
              </a:ext>
            </a:extLst>
          </p:cNvPr>
          <p:cNvSpPr>
            <a:spLocks noGrp="1"/>
          </p:cNvSpPr>
          <p:nvPr/>
        </p:nvSpPr>
        <p:spPr>
          <a:xfrm>
            <a:off x="4991100" y="48006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39C455F-32A3-4792-931B-28B2BA1DCC3B}"/>
              </a:ext>
            </a:extLst>
          </p:cNvPr>
          <p:cNvSpPr>
            <a:spLocks noGrp="1"/>
          </p:cNvSpPr>
          <p:nvPr/>
        </p:nvSpPr>
        <p:spPr>
          <a:xfrm>
            <a:off x="5905500" y="4781550"/>
            <a:ext cx="70485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2E35C2D-4E92-4D59-B84F-49BB62E4FBDA}"/>
              </a:ext>
            </a:extLst>
          </p:cNvPr>
          <p:cNvSpPr>
            <a:spLocks noGrp="1"/>
          </p:cNvSpPr>
          <p:nvPr/>
        </p:nvSpPr>
        <p:spPr>
          <a:xfrm>
            <a:off x="5981700" y="48006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DAE256D-A3BB-4AF9-9601-33A911A6DE32}"/>
              </a:ext>
            </a:extLst>
          </p:cNvPr>
          <p:cNvSpPr>
            <a:spLocks noGrp="1"/>
          </p:cNvSpPr>
          <p:nvPr/>
        </p:nvSpPr>
        <p:spPr>
          <a:xfrm>
            <a:off x="6838950" y="47815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8A6C719-A5A4-4CF3-B160-2407A4F2A08C}"/>
              </a:ext>
            </a:extLst>
          </p:cNvPr>
          <p:cNvSpPr>
            <a:spLocks noGrp="1"/>
          </p:cNvSpPr>
          <p:nvPr/>
        </p:nvSpPr>
        <p:spPr>
          <a:xfrm>
            <a:off x="6915150" y="480060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52E5AFF-16F4-4F3F-8E3D-F5160C7072C9}"/>
              </a:ext>
            </a:extLst>
          </p:cNvPr>
          <p:cNvSpPr>
            <a:spLocks noGrp="1"/>
          </p:cNvSpPr>
          <p:nvPr/>
        </p:nvSpPr>
        <p:spPr>
          <a:xfrm>
            <a:off x="8572500" y="4781550"/>
            <a:ext cx="70485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2E7FDA-41DF-4BAA-AD43-91BEF2045882}"/>
              </a:ext>
            </a:extLst>
          </p:cNvPr>
          <p:cNvSpPr>
            <a:spLocks noGrp="1"/>
          </p:cNvSpPr>
          <p:nvPr/>
        </p:nvSpPr>
        <p:spPr>
          <a:xfrm>
            <a:off x="8648700" y="48006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Neon DB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D3F33D1-FAB8-45C8-A836-AFB855912EF5}"/>
              </a:ext>
            </a:extLst>
          </p:cNvPr>
          <p:cNvSpPr>
            <a:spLocks noGrp="1"/>
          </p:cNvSpPr>
          <p:nvPr/>
        </p:nvSpPr>
        <p:spPr>
          <a:xfrm>
            <a:off x="9525000" y="4781550"/>
            <a:ext cx="70485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C57AC5A-0091-4E69-B846-D193B59EBB83}"/>
              </a:ext>
            </a:extLst>
          </p:cNvPr>
          <p:cNvSpPr>
            <a:spLocks noGrp="1"/>
          </p:cNvSpPr>
          <p:nvPr/>
        </p:nvSpPr>
        <p:spPr>
          <a:xfrm>
            <a:off x="9601200" y="480060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Stripe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06B65CE-AD34-4086-89D6-129E17681786}"/>
              </a:ext>
            </a:extLst>
          </p:cNvPr>
          <p:cNvSpPr>
            <a:spLocks noGrp="1"/>
          </p:cNvSpPr>
          <p:nvPr/>
        </p:nvSpPr>
        <p:spPr>
          <a:xfrm>
            <a:off x="10401300" y="4781550"/>
            <a:ext cx="876300" cy="266700"/>
          </a:xfrm>
          <a:prstGeom prst="roundRect">
            <a:avLst>
              <a:gd name="adj" fmla="val 28571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5DB1486-22FA-4BF0-885F-C32B8912E648}"/>
              </a:ext>
            </a:extLst>
          </p:cNvPr>
          <p:cNvSpPr>
            <a:spLocks noGrp="1"/>
          </p:cNvSpPr>
          <p:nvPr/>
        </p:nvSpPr>
        <p:spPr>
          <a:xfrm>
            <a:off x="10477500" y="4800600"/>
            <a:ext cx="723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Moderation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3582402-8BF2-4DD2-99F6-9A7F1D0B81BD}"/>
              </a:ext>
            </a:extLst>
          </p:cNvPr>
          <p:cNvSpPr>
            <a:spLocks noGrp="1"/>
          </p:cNvSpPr>
          <p:nvPr/>
        </p:nvSpPr>
        <p:spPr>
          <a:xfrm>
            <a:off x="457200" y="5219700"/>
            <a:ext cx="1127760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D0DD176F-A61B-41A9-AFED-3E484695A676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57150" cy="552450"/>
          </a:xfrm>
          <a:prstGeom prst="roundRect">
            <a:avLst>
              <a:gd name="adj" fmla="val 50000"/>
            </a:avLst>
          </a:prstGeom>
          <a:solidFill>
            <a:srgbClr val="133F30"/>
          </a:solidFill>
          <a:ln w="0">
            <a:solidFill>
              <a:srgbClr val="133F30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90715B2-1275-4029-878B-C2182764BF6D}"/>
              </a:ext>
            </a:extLst>
          </p:cNvPr>
          <p:cNvSpPr>
            <a:spLocks noGrp="1"/>
          </p:cNvSpPr>
          <p:nvPr/>
        </p:nvSpPr>
        <p:spPr>
          <a:xfrm>
            <a:off x="762000" y="5391150"/>
            <a:ext cx="10820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Main modules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81A2384-8D76-46C1-9AA2-E3A4CA9624A0}"/>
              </a:ext>
            </a:extLst>
          </p:cNvPr>
          <p:cNvSpPr>
            <a:spLocks noGrp="1"/>
          </p:cNvSpPr>
          <p:nvPr/>
        </p:nvSpPr>
        <p:spPr>
          <a:xfrm>
            <a:off x="762000" y="5694636"/>
            <a:ext cx="10820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73124"/>
                </a:solidFill>
                <a:latin typeface="Aptos"/>
                <a:ea typeface="Aptos"/>
                <a:cs typeface="Aptos"/>
              </a:rPr>
              <a:t>App.js • </a:t>
            </a:r>
            <a:r>
              <a:rPr sz="1125" b="0" dirty="0" err="1">
                <a:solidFill>
                  <a:srgbClr val="173124"/>
                </a:solidFill>
                <a:latin typeface="Aptos"/>
                <a:ea typeface="Aptos"/>
                <a:cs typeface="Aptos"/>
              </a:rPr>
              <a:t>src</a:t>
            </a:r>
            <a:r>
              <a:rPr sz="1125" b="0" dirty="0">
                <a:solidFill>
                  <a:srgbClr val="173124"/>
                </a:solidFill>
                <a:latin typeface="Aptos"/>
                <a:ea typeface="Aptos"/>
                <a:cs typeface="Aptos"/>
              </a:rPr>
              <a:t>/screens • </a:t>
            </a:r>
            <a:r>
              <a:rPr sz="1125" b="0" dirty="0" err="1">
                <a:solidFill>
                  <a:srgbClr val="173124"/>
                </a:solidFill>
                <a:latin typeface="Aptos"/>
                <a:ea typeface="Aptos"/>
                <a:cs typeface="Aptos"/>
              </a:rPr>
              <a:t>src</a:t>
            </a:r>
            <a:r>
              <a:rPr sz="1125" b="0" dirty="0">
                <a:solidFill>
                  <a:srgbClr val="173124"/>
                </a:solidFill>
                <a:latin typeface="Aptos"/>
                <a:ea typeface="Aptos"/>
                <a:cs typeface="Aptos"/>
              </a:rPr>
              <a:t>/context/MarketplaceContext.js • backend/</a:t>
            </a:r>
            <a:r>
              <a:rPr sz="1125" b="0" dirty="0" err="1">
                <a:solidFill>
                  <a:srgbClr val="173124"/>
                </a:solidFill>
                <a:latin typeface="Aptos"/>
                <a:ea typeface="Aptos"/>
                <a:cs typeface="Aptos"/>
              </a:rPr>
              <a:t>src</a:t>
            </a:r>
            <a:r>
              <a:rPr sz="1125" b="0" dirty="0">
                <a:solidFill>
                  <a:srgbClr val="173124"/>
                </a:solidFill>
                <a:latin typeface="Aptos"/>
                <a:ea typeface="Aptos"/>
                <a:cs typeface="Aptos"/>
              </a:rPr>
              <a:t>/index.js • database/</a:t>
            </a:r>
            <a:r>
              <a:rPr sz="1125" b="0" dirty="0" err="1">
                <a:solidFill>
                  <a:srgbClr val="173124"/>
                </a:solidFill>
                <a:latin typeface="Aptos"/>
                <a:ea typeface="Aptos"/>
                <a:cs typeface="Aptos"/>
              </a:rPr>
              <a:t>schema.sql</a:t>
            </a:r>
            <a:endParaRPr sz="1125" b="0" dirty="0">
              <a:solidFill>
                <a:srgbClr val="173124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5849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4E3C41B-312D-4641-840B-A1E569E7F2B1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874E9A-06A6-4DCC-AF2F-42ABAB456067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41F844-2830-41FA-AA43-3705C26BCC32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DATABASE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822F7B-AD02-447F-B7FE-AF81B16F5185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PostgreSQL keeps the marketplace stateful.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868846-B43F-42BC-BD40-5B6272402C55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5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F0E8"/>
                </a:solidFill>
                <a:latin typeface="Aptos"/>
                <a:ea typeface="Aptos"/>
                <a:cs typeface="Aptos"/>
              </a:rPr>
              <a:t>The schema is designed for pgAdmin4 locally and Neon in production.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31E6A2-2BF6-4166-8C5F-E8A2839C3F94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A31805-DDDA-451D-9F8A-DDAC8DE4A593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04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1A416D-A792-4FBA-8C13-F51D3F0520A7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5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56D"/>
                </a:solidFill>
                <a:latin typeface="Aptos"/>
                <a:ea typeface="Aptos"/>
                <a:cs typeface="Aptos"/>
              </a:rPr>
              <a:t>Farmer Marketplace • Presentation deck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970E5B-3062-40C5-8857-ED95041B1F0F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42F27F-DA9F-4392-A09E-E96FC3BFE724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04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F47EAB-C920-48A5-AEB5-5E6BC2F639C1}"/>
              </a:ext>
            </a:extLst>
          </p:cNvPr>
          <p:cNvSpPr>
            <a:spLocks noGrp="1"/>
          </p:cNvSpPr>
          <p:nvPr/>
        </p:nvSpPr>
        <p:spPr>
          <a:xfrm>
            <a:off x="342900" y="1714500"/>
            <a:ext cx="2400300" cy="1333500"/>
          </a:xfrm>
          <a:prstGeom prst="roundRect">
            <a:avLst>
              <a:gd name="adj" fmla="val 5714"/>
            </a:avLst>
          </a:prstGeom>
          <a:solidFill>
            <a:srgbClr val="EAF2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1617CE-9A53-4C52-82A0-8CFE87E6A5C8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EDF673-19F9-4E53-8C8D-B6386DE2BF83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B0E92A-032E-413F-A812-2ACC46E26CD2}"/>
              </a:ext>
            </a:extLst>
          </p:cNvPr>
          <p:cNvSpPr>
            <a:spLocks noGrp="1"/>
          </p:cNvSpPr>
          <p:nvPr/>
        </p:nvSpPr>
        <p:spPr>
          <a:xfrm>
            <a:off x="647700" y="2266950"/>
            <a:ext cx="1943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role · profile · status · verification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978D27-2BC9-4C14-84A9-435AED73FE2D}"/>
              </a:ext>
            </a:extLst>
          </p:cNvPr>
          <p:cNvSpPr>
            <a:spLocks noGrp="1"/>
          </p:cNvSpPr>
          <p:nvPr/>
        </p:nvSpPr>
        <p:spPr>
          <a:xfrm>
            <a:off x="2895600" y="1714500"/>
            <a:ext cx="2400300" cy="1333500"/>
          </a:xfrm>
          <a:prstGeom prst="roundRect">
            <a:avLst>
              <a:gd name="adj" fmla="val 5714"/>
            </a:avLst>
          </a:prstGeom>
          <a:solidFill>
            <a:srgbClr val="FFF1D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051D6B-8337-4E67-AF8C-20C031851862}"/>
              </a:ext>
            </a:extLst>
          </p:cNvPr>
          <p:cNvSpPr>
            <a:spLocks noGrp="1"/>
          </p:cNvSpPr>
          <p:nvPr/>
        </p:nvSpPr>
        <p:spPr>
          <a:xfrm>
            <a:off x="3048000" y="1847850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DF8EE1-AEBC-40AE-A896-BA4318B93A0A}"/>
              </a:ext>
            </a:extLst>
          </p:cNvPr>
          <p:cNvSpPr>
            <a:spLocks noGrp="1"/>
          </p:cNvSpPr>
          <p:nvPr/>
        </p:nvSpPr>
        <p:spPr>
          <a:xfrm>
            <a:off x="3200400" y="18859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DB4B38-F3D2-4311-890A-5B12533D2527}"/>
              </a:ext>
            </a:extLst>
          </p:cNvPr>
          <p:cNvSpPr>
            <a:spLocks noGrp="1"/>
          </p:cNvSpPr>
          <p:nvPr/>
        </p:nvSpPr>
        <p:spPr>
          <a:xfrm>
            <a:off x="3200400" y="2266950"/>
            <a:ext cx="1943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farmer · price · stock · availability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775BE67-EDA5-4C67-9951-96FB5CE1478E}"/>
              </a:ext>
            </a:extLst>
          </p:cNvPr>
          <p:cNvSpPr>
            <a:spLocks noGrp="1"/>
          </p:cNvSpPr>
          <p:nvPr/>
        </p:nvSpPr>
        <p:spPr>
          <a:xfrm>
            <a:off x="5448300" y="1714500"/>
            <a:ext cx="2400300" cy="1333500"/>
          </a:xfrm>
          <a:prstGeom prst="roundRect">
            <a:avLst>
              <a:gd name="adj" fmla="val 5714"/>
            </a:avLst>
          </a:prstGeom>
          <a:solidFill>
            <a:srgbClr val="E8EEF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2140D4-DA16-419A-B390-8EA5B11FFCDD}"/>
              </a:ext>
            </a:extLst>
          </p:cNvPr>
          <p:cNvSpPr>
            <a:spLocks noGrp="1"/>
          </p:cNvSpPr>
          <p:nvPr/>
        </p:nvSpPr>
        <p:spPr>
          <a:xfrm>
            <a:off x="5600700" y="1847850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5675A9-B66A-4564-A27E-66FFA9BC5E88}"/>
              </a:ext>
            </a:extLst>
          </p:cNvPr>
          <p:cNvSpPr>
            <a:spLocks noGrp="1"/>
          </p:cNvSpPr>
          <p:nvPr/>
        </p:nvSpPr>
        <p:spPr>
          <a:xfrm>
            <a:off x="5753100" y="18859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210DB9-B931-4A40-BD62-EC5D123F0AD7}"/>
              </a:ext>
            </a:extLst>
          </p:cNvPr>
          <p:cNvSpPr>
            <a:spLocks noGrp="1"/>
          </p:cNvSpPr>
          <p:nvPr/>
        </p:nvSpPr>
        <p:spPr>
          <a:xfrm>
            <a:off x="5753100" y="2266950"/>
            <a:ext cx="1943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buyer · items · totals · lifecycle status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FC86B5D-DB8B-49E2-8B7B-26D63D000A52}"/>
              </a:ext>
            </a:extLst>
          </p:cNvPr>
          <p:cNvSpPr>
            <a:spLocks noGrp="1"/>
          </p:cNvSpPr>
          <p:nvPr/>
        </p:nvSpPr>
        <p:spPr>
          <a:xfrm>
            <a:off x="342900" y="3276600"/>
            <a:ext cx="2400300" cy="1333500"/>
          </a:xfrm>
          <a:prstGeom prst="roundRect">
            <a:avLst>
              <a:gd name="adj" fmla="val 5714"/>
            </a:avLst>
          </a:prstGeom>
          <a:solidFill>
            <a:srgbClr val="F9E6E6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2B93DC3-4AAA-45B1-B786-82884E944CD7}"/>
              </a:ext>
            </a:extLst>
          </p:cNvPr>
          <p:cNvSpPr>
            <a:spLocks noGrp="1"/>
          </p:cNvSpPr>
          <p:nvPr/>
        </p:nvSpPr>
        <p:spPr>
          <a:xfrm>
            <a:off x="495300" y="3409950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C04A3A"/>
          </a:solidFill>
          <a:ln w="0">
            <a:solidFill>
              <a:srgbClr val="C04A3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91FA9C-67CA-4DA8-8794-97C58AEB1EBB}"/>
              </a:ext>
            </a:extLst>
          </p:cNvPr>
          <p:cNvSpPr>
            <a:spLocks noGrp="1"/>
          </p:cNvSpPr>
          <p:nvPr/>
        </p:nvSpPr>
        <p:spPr>
          <a:xfrm>
            <a:off x="647700" y="34480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Payments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611B22-1319-4D71-8F03-EA27D33D4CA4}"/>
              </a:ext>
            </a:extLst>
          </p:cNvPr>
          <p:cNvSpPr>
            <a:spLocks noGrp="1"/>
          </p:cNvSpPr>
          <p:nvPr/>
        </p:nvSpPr>
        <p:spPr>
          <a:xfrm>
            <a:off x="647700" y="3829050"/>
            <a:ext cx="1943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method · provider · currency · reference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BCA6929-006B-4093-849E-F9BC1C1AC972}"/>
              </a:ext>
            </a:extLst>
          </p:cNvPr>
          <p:cNvSpPr>
            <a:spLocks noGrp="1"/>
          </p:cNvSpPr>
          <p:nvPr/>
        </p:nvSpPr>
        <p:spPr>
          <a:xfrm>
            <a:off x="2895600" y="3276600"/>
            <a:ext cx="2400300" cy="1333500"/>
          </a:xfrm>
          <a:prstGeom prst="roundRect">
            <a:avLst>
              <a:gd name="adj" fmla="val 5714"/>
            </a:avLst>
          </a:prstGeom>
          <a:solidFill>
            <a:srgbClr val="F2F0FB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6D974E-BB86-4C1D-8523-AD4AB0719464}"/>
              </a:ext>
            </a:extLst>
          </p:cNvPr>
          <p:cNvSpPr>
            <a:spLocks noGrp="1"/>
          </p:cNvSpPr>
          <p:nvPr/>
        </p:nvSpPr>
        <p:spPr>
          <a:xfrm>
            <a:off x="3048000" y="3409950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7A55D4"/>
          </a:solidFill>
          <a:ln w="0">
            <a:solidFill>
              <a:srgbClr val="7A55D4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A45A996-23AA-45C7-9590-F3A107B9E9F9}"/>
              </a:ext>
            </a:extLst>
          </p:cNvPr>
          <p:cNvSpPr>
            <a:spLocks noGrp="1"/>
          </p:cNvSpPr>
          <p:nvPr/>
        </p:nvSpPr>
        <p:spPr>
          <a:xfrm>
            <a:off x="3200400" y="34480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351689-7FE6-4F79-B07B-C9B5A7E1A5C2}"/>
              </a:ext>
            </a:extLst>
          </p:cNvPr>
          <p:cNvSpPr>
            <a:spLocks noGrp="1"/>
          </p:cNvSpPr>
          <p:nvPr/>
        </p:nvSpPr>
        <p:spPr>
          <a:xfrm>
            <a:off x="3200400" y="3829050"/>
            <a:ext cx="1943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rating · comment · order link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A8A2038-5614-4F87-B991-C72CE22F3B33}"/>
              </a:ext>
            </a:extLst>
          </p:cNvPr>
          <p:cNvSpPr>
            <a:spLocks noGrp="1"/>
          </p:cNvSpPr>
          <p:nvPr/>
        </p:nvSpPr>
        <p:spPr>
          <a:xfrm>
            <a:off x="5448300" y="3276600"/>
            <a:ext cx="2400300" cy="1333500"/>
          </a:xfrm>
          <a:prstGeom prst="roundRect">
            <a:avLst>
              <a:gd name="adj" fmla="val 5714"/>
            </a:avLst>
          </a:prstGeom>
          <a:solidFill>
            <a:srgbClr val="EEF7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1E571DD-2BB1-49FA-B740-3E31D1981965}"/>
              </a:ext>
            </a:extLst>
          </p:cNvPr>
          <p:cNvSpPr>
            <a:spLocks noGrp="1"/>
          </p:cNvSpPr>
          <p:nvPr/>
        </p:nvSpPr>
        <p:spPr>
          <a:xfrm>
            <a:off x="5600700" y="3409950"/>
            <a:ext cx="57150" cy="1066800"/>
          </a:xfrm>
          <a:prstGeom prst="roundRect">
            <a:avLst>
              <a:gd name="adj" fmla="val 50000"/>
            </a:avLst>
          </a:prstGeom>
          <a:solidFill>
            <a:srgbClr val="5B8A31"/>
          </a:solidFill>
          <a:ln w="0">
            <a:solidFill>
              <a:srgbClr val="5B8A31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1C4587-6D1D-4360-8174-B42FB5FC40E1}"/>
              </a:ext>
            </a:extLst>
          </p:cNvPr>
          <p:cNvSpPr>
            <a:spLocks noGrp="1"/>
          </p:cNvSpPr>
          <p:nvPr/>
        </p:nvSpPr>
        <p:spPr>
          <a:xfrm>
            <a:off x="5753100" y="3448050"/>
            <a:ext cx="1943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Audit / notifications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6F3E2E-80D7-4859-80C8-714AAF879E83}"/>
              </a:ext>
            </a:extLst>
          </p:cNvPr>
          <p:cNvSpPr>
            <a:spLocks noGrp="1"/>
          </p:cNvSpPr>
          <p:nvPr/>
        </p:nvSpPr>
        <p:spPr>
          <a:xfrm>
            <a:off x="5753100" y="3829050"/>
            <a:ext cx="19431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moderation events · alerts · timestamps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7D50C07-F491-4C8D-A1C6-9E2321ADDD5C}"/>
              </a:ext>
            </a:extLst>
          </p:cNvPr>
          <p:cNvSpPr>
            <a:spLocks noGrp="1"/>
          </p:cNvSpPr>
          <p:nvPr/>
        </p:nvSpPr>
        <p:spPr>
          <a:xfrm>
            <a:off x="8153400" y="1714500"/>
            <a:ext cx="3505200" cy="28956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57C7B0D-4976-4DD1-B634-9AFD6776BE1E}"/>
              </a:ext>
            </a:extLst>
          </p:cNvPr>
          <p:cNvSpPr>
            <a:spLocks noGrp="1"/>
          </p:cNvSpPr>
          <p:nvPr/>
        </p:nvSpPr>
        <p:spPr>
          <a:xfrm>
            <a:off x="8305800" y="1847850"/>
            <a:ext cx="57150" cy="2628900"/>
          </a:xfrm>
          <a:prstGeom prst="roundRect">
            <a:avLst>
              <a:gd name="adj" fmla="val 50000"/>
            </a:avLst>
          </a:prstGeom>
          <a:solidFill>
            <a:srgbClr val="133F30"/>
          </a:solidFill>
          <a:ln w="0">
            <a:solidFill>
              <a:srgbClr val="133F3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BBD6A6E-F168-488F-86FA-35E370A37548}"/>
              </a:ext>
            </a:extLst>
          </p:cNvPr>
          <p:cNvSpPr>
            <a:spLocks noGrp="1"/>
          </p:cNvSpPr>
          <p:nvPr/>
        </p:nvSpPr>
        <p:spPr>
          <a:xfrm>
            <a:off x="8458200" y="18859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pgAdmin4 / Neon setup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F02DE84-E531-4B5F-9ABF-527A4144E197}"/>
              </a:ext>
            </a:extLst>
          </p:cNvPr>
          <p:cNvSpPr>
            <a:spLocks noGrp="1"/>
          </p:cNvSpPr>
          <p:nvPr/>
        </p:nvSpPr>
        <p:spPr>
          <a:xfrm>
            <a:off x="8458200" y="2362200"/>
            <a:ext cx="3048000" cy="1714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1. Create the farmer_marketplace database.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2. Run database/schema.sql.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3. Seed the initial admin account.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4. Switch DATABASE_URL to Neon for production.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60FA783-3656-4239-8D29-ADF7E07EFA74}"/>
              </a:ext>
            </a:extLst>
          </p:cNvPr>
          <p:cNvSpPr>
            <a:spLocks noGrp="1"/>
          </p:cNvSpPr>
          <p:nvPr/>
        </p:nvSpPr>
        <p:spPr>
          <a:xfrm>
            <a:off x="8153400" y="485775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19393B2-2B68-48F7-B8B7-4A4561B7FA30}"/>
              </a:ext>
            </a:extLst>
          </p:cNvPr>
          <p:cNvSpPr>
            <a:spLocks noGrp="1"/>
          </p:cNvSpPr>
          <p:nvPr/>
        </p:nvSpPr>
        <p:spPr>
          <a:xfrm>
            <a:off x="8229600" y="487680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Production: Neon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25526FF-F31A-4370-BF8D-4E71E76E90D1}"/>
              </a:ext>
            </a:extLst>
          </p:cNvPr>
          <p:cNvSpPr>
            <a:spLocks noGrp="1"/>
          </p:cNvSpPr>
          <p:nvPr/>
        </p:nvSpPr>
        <p:spPr>
          <a:xfrm>
            <a:off x="9906000" y="4857750"/>
            <a:ext cx="1752600" cy="285750"/>
          </a:xfrm>
          <a:prstGeom prst="roundRect">
            <a:avLst>
              <a:gd name="adj" fmla="val 26667"/>
            </a:avLst>
          </a:prstGeom>
          <a:solidFill>
            <a:srgbClr val="FFF1D9"/>
          </a:solidFill>
          <a:ln w="9525">
            <a:solidFill>
              <a:srgbClr val="FFF1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0FBFD5-52A1-4D03-901E-06F270DA1563}"/>
              </a:ext>
            </a:extLst>
          </p:cNvPr>
          <p:cNvSpPr>
            <a:spLocks noGrp="1"/>
          </p:cNvSpPr>
          <p:nvPr/>
        </p:nvSpPr>
        <p:spPr>
          <a:xfrm>
            <a:off x="9982200" y="4876800"/>
            <a:ext cx="16002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8C5C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C5C00"/>
                </a:solidFill>
                <a:latin typeface="Aptos"/>
                <a:ea typeface="Aptos"/>
                <a:cs typeface="Aptos"/>
              </a:rPr>
              <a:t>Local: pgAdmin4</a:t>
            </a:r>
          </a:p>
        </p:txBody>
      </p:sp>
    </p:spTree>
    <p:extLst>
      <p:ext uri="{BB962C8B-B14F-4D97-AF65-F5344CB8AC3E}">
        <p14:creationId xmlns:p14="http://schemas.microsoft.com/office/powerpoint/2010/main" val="138321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8CB0AE4-3ADB-4FD5-9C9D-09E82E70C2FA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5D9863-F856-465F-851B-78146DDB3003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32D2F6-4E32-40F3-B44E-3F4FBB46BA19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E28797-FA3F-4EEC-B2F2-E5C52E72F7DE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core screen is designed for taps.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37AB55-13F9-42FA-8B51-3566911A8B62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5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F0E8"/>
                </a:solidFill>
                <a:latin typeface="Aptos"/>
                <a:ea typeface="Aptos"/>
                <a:cs typeface="Aptos"/>
              </a:rPr>
              <a:t>The app covers the required buyer and farmer screens and keeps navigation simple.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F89588-5153-42AC-8450-D007C81CAF50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0E13A3-8880-4E73-833F-7221B48BBF4F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05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8E3055-ACEE-441E-B88B-0FA5E05087A2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5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56D"/>
                </a:solidFill>
                <a:latin typeface="Aptos"/>
                <a:ea typeface="Aptos"/>
                <a:cs typeface="Aptos"/>
              </a:rPr>
              <a:t>Farmer Marketplace • Presentation deck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C3B1D7-BF2B-49D4-ABB2-FB92937701E3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09DA979-4273-47AA-9937-B196A97CD610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05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75E9E69-74E3-4980-AC9A-5D85BEFAEB17}"/>
              </a:ext>
            </a:extLst>
          </p:cNvPr>
          <p:cNvSpPr>
            <a:spLocks noGrp="1"/>
          </p:cNvSpPr>
          <p:nvPr/>
        </p:nvSpPr>
        <p:spPr>
          <a:xfrm>
            <a:off x="342900" y="1695450"/>
            <a:ext cx="3352800" cy="1485900"/>
          </a:xfrm>
          <a:prstGeom prst="roundRect">
            <a:avLst>
              <a:gd name="adj" fmla="val 5128"/>
            </a:avLst>
          </a:prstGeom>
          <a:solidFill>
            <a:srgbClr val="EAF2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AF8D88B-95D3-434A-B491-542C7012DD49}"/>
              </a:ext>
            </a:extLst>
          </p:cNvPr>
          <p:cNvSpPr>
            <a:spLocks noGrp="1"/>
          </p:cNvSpPr>
          <p:nvPr/>
        </p:nvSpPr>
        <p:spPr>
          <a:xfrm>
            <a:off x="495300" y="182880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65E4B7-06C2-4C24-AB61-995418C087D5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Splash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EE74D2-1D26-42F9-A47E-253317AD1437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2895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Brand moment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fast launch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clean first impression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E26B8E9-019B-4959-B152-4EDD5D101C28}"/>
              </a:ext>
            </a:extLst>
          </p:cNvPr>
          <p:cNvSpPr>
            <a:spLocks noGrp="1"/>
          </p:cNvSpPr>
          <p:nvPr/>
        </p:nvSpPr>
        <p:spPr>
          <a:xfrm>
            <a:off x="2876550" y="18669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898A48D-E38F-442B-BF35-6B4AD1C95289}"/>
              </a:ext>
            </a:extLst>
          </p:cNvPr>
          <p:cNvSpPr>
            <a:spLocks noGrp="1"/>
          </p:cNvSpPr>
          <p:nvPr/>
        </p:nvSpPr>
        <p:spPr>
          <a:xfrm>
            <a:off x="2933700" y="2914650"/>
            <a:ext cx="4381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6667"/>
            </a:srgbClr>
          </a:solidFill>
          <a:ln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1C712DF-0E27-4643-818D-D761E906C91A}"/>
              </a:ext>
            </a:extLst>
          </p:cNvPr>
          <p:cNvSpPr>
            <a:spLocks noGrp="1"/>
          </p:cNvSpPr>
          <p:nvPr/>
        </p:nvSpPr>
        <p:spPr>
          <a:xfrm>
            <a:off x="4076700" y="1695450"/>
            <a:ext cx="3352800" cy="1485900"/>
          </a:xfrm>
          <a:prstGeom prst="roundRect">
            <a:avLst>
              <a:gd name="adj" fmla="val 5128"/>
            </a:avLst>
          </a:prstGeom>
          <a:solidFill>
            <a:srgbClr val="FFF1D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2743496-1F0A-459F-81A5-EB26A8B31AAD}"/>
              </a:ext>
            </a:extLst>
          </p:cNvPr>
          <p:cNvSpPr>
            <a:spLocks noGrp="1"/>
          </p:cNvSpPr>
          <p:nvPr/>
        </p:nvSpPr>
        <p:spPr>
          <a:xfrm>
            <a:off x="4229100" y="182880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94EB9F-5ACD-4065-AD2E-900A2749B2AC}"/>
              </a:ext>
            </a:extLst>
          </p:cNvPr>
          <p:cNvSpPr>
            <a:spLocks noGrp="1"/>
          </p:cNvSpPr>
          <p:nvPr/>
        </p:nvSpPr>
        <p:spPr>
          <a:xfrm>
            <a:off x="4381500" y="1866900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Login / Register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D549A2-9877-4892-A1E3-EA9B75E6517D}"/>
              </a:ext>
            </a:extLst>
          </p:cNvPr>
          <p:cNvSpPr>
            <a:spLocks noGrp="1"/>
          </p:cNvSpPr>
          <p:nvPr/>
        </p:nvSpPr>
        <p:spPr>
          <a:xfrm>
            <a:off x="4381500" y="2228850"/>
            <a:ext cx="2895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Sign in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create account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role selection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485BF5-FB87-4EFE-BAE2-AD4BBE436A78}"/>
              </a:ext>
            </a:extLst>
          </p:cNvPr>
          <p:cNvSpPr>
            <a:spLocks noGrp="1"/>
          </p:cNvSpPr>
          <p:nvPr/>
        </p:nvSpPr>
        <p:spPr>
          <a:xfrm>
            <a:off x="6610350" y="18669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01EF18-6215-4CDA-8373-13187F19A3F4}"/>
              </a:ext>
            </a:extLst>
          </p:cNvPr>
          <p:cNvSpPr>
            <a:spLocks noGrp="1"/>
          </p:cNvSpPr>
          <p:nvPr/>
        </p:nvSpPr>
        <p:spPr>
          <a:xfrm>
            <a:off x="6667500" y="2914650"/>
            <a:ext cx="4381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6667"/>
            </a:srgbClr>
          </a:solidFill>
          <a:ln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E61BDE-51A1-4CE0-BA5D-B7EF4B7A0E5B}"/>
              </a:ext>
            </a:extLst>
          </p:cNvPr>
          <p:cNvSpPr>
            <a:spLocks noGrp="1"/>
          </p:cNvSpPr>
          <p:nvPr/>
        </p:nvSpPr>
        <p:spPr>
          <a:xfrm>
            <a:off x="7810500" y="1695450"/>
            <a:ext cx="3352800" cy="1485900"/>
          </a:xfrm>
          <a:prstGeom prst="roundRect">
            <a:avLst>
              <a:gd name="adj" fmla="val 5128"/>
            </a:avLst>
          </a:prstGeom>
          <a:solidFill>
            <a:srgbClr val="E8EEF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313B09F-50B9-40E0-B02E-CA06F200FD70}"/>
              </a:ext>
            </a:extLst>
          </p:cNvPr>
          <p:cNvSpPr>
            <a:spLocks noGrp="1"/>
          </p:cNvSpPr>
          <p:nvPr/>
        </p:nvSpPr>
        <p:spPr>
          <a:xfrm>
            <a:off x="7962900" y="182880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93FE31-A6BD-4737-9896-5B813A80D21D}"/>
              </a:ext>
            </a:extLst>
          </p:cNvPr>
          <p:cNvSpPr>
            <a:spLocks noGrp="1"/>
          </p:cNvSpPr>
          <p:nvPr/>
        </p:nvSpPr>
        <p:spPr>
          <a:xfrm>
            <a:off x="8115300" y="1866900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Home listing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A47121-4D4D-4768-A01A-ACE80ED388BF}"/>
              </a:ext>
            </a:extLst>
          </p:cNvPr>
          <p:cNvSpPr>
            <a:spLocks noGrp="1"/>
          </p:cNvSpPr>
          <p:nvPr/>
        </p:nvSpPr>
        <p:spPr>
          <a:xfrm>
            <a:off x="8115300" y="2228850"/>
            <a:ext cx="2895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Browse products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search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filter by category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810D315-6D82-49DA-BE28-F6657D4477C7}"/>
              </a:ext>
            </a:extLst>
          </p:cNvPr>
          <p:cNvSpPr>
            <a:spLocks noGrp="1"/>
          </p:cNvSpPr>
          <p:nvPr/>
        </p:nvSpPr>
        <p:spPr>
          <a:xfrm>
            <a:off x="10344150" y="186690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E750070-47E0-4995-9AAA-29CD90274A9C}"/>
              </a:ext>
            </a:extLst>
          </p:cNvPr>
          <p:cNvSpPr>
            <a:spLocks noGrp="1"/>
          </p:cNvSpPr>
          <p:nvPr/>
        </p:nvSpPr>
        <p:spPr>
          <a:xfrm>
            <a:off x="10401300" y="2914650"/>
            <a:ext cx="4381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6667"/>
            </a:srgbClr>
          </a:solidFill>
          <a:ln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3ACB06-A5B3-4FB4-A307-900FC2887DFE}"/>
              </a:ext>
            </a:extLst>
          </p:cNvPr>
          <p:cNvSpPr>
            <a:spLocks noGrp="1"/>
          </p:cNvSpPr>
          <p:nvPr/>
        </p:nvSpPr>
        <p:spPr>
          <a:xfrm>
            <a:off x="342900" y="3390900"/>
            <a:ext cx="3352800" cy="1485900"/>
          </a:xfrm>
          <a:prstGeom prst="roundRect">
            <a:avLst>
              <a:gd name="adj" fmla="val 5128"/>
            </a:avLst>
          </a:prstGeom>
          <a:solidFill>
            <a:srgbClr val="F9E6E6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05DEFF1-94CB-41E0-82E7-B998FBCABF88}"/>
              </a:ext>
            </a:extLst>
          </p:cNvPr>
          <p:cNvSpPr>
            <a:spLocks noGrp="1"/>
          </p:cNvSpPr>
          <p:nvPr/>
        </p:nvSpPr>
        <p:spPr>
          <a:xfrm>
            <a:off x="495300" y="352425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C04A3A"/>
          </a:solidFill>
          <a:ln w="0">
            <a:solidFill>
              <a:srgbClr val="C04A3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12279D-BC1A-43A9-B1F6-A6F4EE806AC5}"/>
              </a:ext>
            </a:extLst>
          </p:cNvPr>
          <p:cNvSpPr>
            <a:spLocks noGrp="1"/>
          </p:cNvSpPr>
          <p:nvPr/>
        </p:nvSpPr>
        <p:spPr>
          <a:xfrm>
            <a:off x="647700" y="3562350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Product details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6B1C41-4FF7-4DC9-BC67-BE9CC742BE90}"/>
              </a:ext>
            </a:extLst>
          </p:cNvPr>
          <p:cNvSpPr>
            <a:spLocks noGrp="1"/>
          </p:cNvSpPr>
          <p:nvPr/>
        </p:nvSpPr>
        <p:spPr>
          <a:xfrm>
            <a:off x="647700" y="3924300"/>
            <a:ext cx="2895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Price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stock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add to cart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D11F69B-7F7D-441E-B286-5BD60612D1AC}"/>
              </a:ext>
            </a:extLst>
          </p:cNvPr>
          <p:cNvSpPr>
            <a:spLocks noGrp="1"/>
          </p:cNvSpPr>
          <p:nvPr/>
        </p:nvSpPr>
        <p:spPr>
          <a:xfrm>
            <a:off x="2876550" y="356235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26AF583-8A37-43B3-9D18-4AA69789B507}"/>
              </a:ext>
            </a:extLst>
          </p:cNvPr>
          <p:cNvSpPr>
            <a:spLocks noGrp="1"/>
          </p:cNvSpPr>
          <p:nvPr/>
        </p:nvSpPr>
        <p:spPr>
          <a:xfrm>
            <a:off x="2933700" y="4610100"/>
            <a:ext cx="4381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6667"/>
            </a:srgbClr>
          </a:solidFill>
          <a:ln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C0F37E2-7E34-444E-B6BE-0DC6880CBCDC}"/>
              </a:ext>
            </a:extLst>
          </p:cNvPr>
          <p:cNvSpPr>
            <a:spLocks noGrp="1"/>
          </p:cNvSpPr>
          <p:nvPr/>
        </p:nvSpPr>
        <p:spPr>
          <a:xfrm>
            <a:off x="4076700" y="3390900"/>
            <a:ext cx="3352800" cy="1485900"/>
          </a:xfrm>
          <a:prstGeom prst="roundRect">
            <a:avLst>
              <a:gd name="adj" fmla="val 5128"/>
            </a:avLst>
          </a:prstGeom>
          <a:solidFill>
            <a:srgbClr val="F2F0FB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8A30F60-9078-4A91-B4CF-5A5AC8CE4B0A}"/>
              </a:ext>
            </a:extLst>
          </p:cNvPr>
          <p:cNvSpPr>
            <a:spLocks noGrp="1"/>
          </p:cNvSpPr>
          <p:nvPr/>
        </p:nvSpPr>
        <p:spPr>
          <a:xfrm>
            <a:off x="4229100" y="352425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7A55D4"/>
          </a:solidFill>
          <a:ln w="0">
            <a:solidFill>
              <a:srgbClr val="7A55D4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6BE004-A8DE-464A-A386-FB83202CB37F}"/>
              </a:ext>
            </a:extLst>
          </p:cNvPr>
          <p:cNvSpPr>
            <a:spLocks noGrp="1"/>
          </p:cNvSpPr>
          <p:nvPr/>
        </p:nvSpPr>
        <p:spPr>
          <a:xfrm>
            <a:off x="4381500" y="3562350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Cart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1B17CF8-AC4A-4C6F-98C3-8D37CD83F6F3}"/>
              </a:ext>
            </a:extLst>
          </p:cNvPr>
          <p:cNvSpPr>
            <a:spLocks noGrp="1"/>
          </p:cNvSpPr>
          <p:nvPr/>
        </p:nvSpPr>
        <p:spPr>
          <a:xfrm>
            <a:off x="4381500" y="3924300"/>
            <a:ext cx="2895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Review items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update quantities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proceed to checkout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43C4AE5-9C12-4454-83D2-F57632B7E3B0}"/>
              </a:ext>
            </a:extLst>
          </p:cNvPr>
          <p:cNvSpPr>
            <a:spLocks noGrp="1"/>
          </p:cNvSpPr>
          <p:nvPr/>
        </p:nvSpPr>
        <p:spPr>
          <a:xfrm>
            <a:off x="6610350" y="356235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134804AF-A7FB-4C5E-9EA1-6B018E391961}"/>
              </a:ext>
            </a:extLst>
          </p:cNvPr>
          <p:cNvSpPr>
            <a:spLocks noGrp="1"/>
          </p:cNvSpPr>
          <p:nvPr/>
        </p:nvSpPr>
        <p:spPr>
          <a:xfrm>
            <a:off x="6667500" y="4610100"/>
            <a:ext cx="4381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6667"/>
            </a:srgbClr>
          </a:solidFill>
          <a:ln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8457BCE-B9BA-4DFC-B781-E2D315EF2ACA}"/>
              </a:ext>
            </a:extLst>
          </p:cNvPr>
          <p:cNvSpPr>
            <a:spLocks noGrp="1"/>
          </p:cNvSpPr>
          <p:nvPr/>
        </p:nvSpPr>
        <p:spPr>
          <a:xfrm>
            <a:off x="7810500" y="3390900"/>
            <a:ext cx="3352800" cy="1485900"/>
          </a:xfrm>
          <a:prstGeom prst="roundRect">
            <a:avLst>
              <a:gd name="adj" fmla="val 5128"/>
            </a:avLst>
          </a:prstGeom>
          <a:solidFill>
            <a:srgbClr val="EEF7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A532457-FD9D-4201-8E9C-3123936A3527}"/>
              </a:ext>
            </a:extLst>
          </p:cNvPr>
          <p:cNvSpPr>
            <a:spLocks noGrp="1"/>
          </p:cNvSpPr>
          <p:nvPr/>
        </p:nvSpPr>
        <p:spPr>
          <a:xfrm>
            <a:off x="7962900" y="3524250"/>
            <a:ext cx="57150" cy="1219200"/>
          </a:xfrm>
          <a:prstGeom prst="roundRect">
            <a:avLst>
              <a:gd name="adj" fmla="val 50000"/>
            </a:avLst>
          </a:prstGeom>
          <a:solidFill>
            <a:srgbClr val="5B8A31"/>
          </a:solidFill>
          <a:ln w="0">
            <a:solidFill>
              <a:srgbClr val="5B8A31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07733DF-DE1A-4096-B0B6-24636F3E43EE}"/>
              </a:ext>
            </a:extLst>
          </p:cNvPr>
          <p:cNvSpPr>
            <a:spLocks noGrp="1"/>
          </p:cNvSpPr>
          <p:nvPr/>
        </p:nvSpPr>
        <p:spPr>
          <a:xfrm>
            <a:off x="8115300" y="3562350"/>
            <a:ext cx="2895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9A53A2-5773-4B08-B31F-609EC73A7C03}"/>
              </a:ext>
            </a:extLst>
          </p:cNvPr>
          <p:cNvSpPr>
            <a:spLocks noGrp="1"/>
          </p:cNvSpPr>
          <p:nvPr/>
        </p:nvSpPr>
        <p:spPr>
          <a:xfrm>
            <a:off x="8115300" y="3924300"/>
            <a:ext cx="28956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Choose payment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confirm order</a:t>
            </a:r>
          </a:p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track status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C20DFDB-FE59-4C8A-AAE5-E6444205CED9}"/>
              </a:ext>
            </a:extLst>
          </p:cNvPr>
          <p:cNvSpPr>
            <a:spLocks noGrp="1"/>
          </p:cNvSpPr>
          <p:nvPr/>
        </p:nvSpPr>
        <p:spPr>
          <a:xfrm>
            <a:off x="10344150" y="3562350"/>
            <a:ext cx="5524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0A97D83-5063-4EEE-A101-94A0C1CD76D1}"/>
              </a:ext>
            </a:extLst>
          </p:cNvPr>
          <p:cNvSpPr>
            <a:spLocks noGrp="1"/>
          </p:cNvSpPr>
          <p:nvPr/>
        </p:nvSpPr>
        <p:spPr>
          <a:xfrm>
            <a:off x="10401300" y="4610100"/>
            <a:ext cx="438150" cy="95250"/>
          </a:xfrm>
          <a:prstGeom prst="roundRect">
            <a:avLst>
              <a:gd name="adj" fmla="val 50000"/>
            </a:avLst>
          </a:prstGeom>
          <a:solidFill>
            <a:srgbClr val="FFFFFF">
              <a:alpha val="66667"/>
            </a:srgbClr>
          </a:solidFill>
          <a:ln w="9525">
            <a:solidFill>
              <a:srgbClr val="FFFFFF">
                <a:alpha val="66667"/>
              </a:srgbClr>
            </a:solidFill>
            <a:prstDash val="solid"/>
          </a:ln>
        </p:spPr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0DA3746-F0A3-4929-BB98-D03B61155638}"/>
              </a:ext>
            </a:extLst>
          </p:cNvPr>
          <p:cNvSpPr>
            <a:spLocks noGrp="1"/>
          </p:cNvSpPr>
          <p:nvPr/>
        </p:nvSpPr>
        <p:spPr>
          <a:xfrm>
            <a:off x="1371600" y="5467350"/>
            <a:ext cx="942975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95CF266-3B94-4BE1-87C4-7360CF99F0A6}"/>
              </a:ext>
            </a:extLst>
          </p:cNvPr>
          <p:cNvSpPr>
            <a:spLocks noGrp="1"/>
          </p:cNvSpPr>
          <p:nvPr/>
        </p:nvSpPr>
        <p:spPr>
          <a:xfrm>
            <a:off x="1447800" y="5486400"/>
            <a:ext cx="927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User journey: splash → auth → browse → product details → cart → checkout → order history</a:t>
            </a:r>
          </a:p>
        </p:txBody>
      </p:sp>
    </p:spTree>
    <p:extLst>
      <p:ext uri="{BB962C8B-B14F-4D97-AF65-F5344CB8AC3E}">
        <p14:creationId xmlns:p14="http://schemas.microsoft.com/office/powerpoint/2010/main" val="84779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C3050F58-4CE8-4884-8DF9-C33CA77F47C7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959BFDD-5E27-447C-94B9-548953221F6D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836CD0-60BA-4A10-9784-F9B0C97F7A84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FARMER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EE4EE9C-5DCA-4376-9516-855A768A8FD2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Farmers can publish, edit, and fulfill orders.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999A5-4076-43C3-BB26-A6AF7AA6FF68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5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F0E8"/>
                </a:solidFill>
                <a:latin typeface="Aptos"/>
                <a:ea typeface="Aptos"/>
                <a:cs typeface="Aptos"/>
              </a:rPr>
              <a:t>The dashboard covers listing management and order history in one place.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AA837E6-E89C-4A7E-AAB5-511A20CA3E85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4DEEF6-6ECD-4062-A2EA-28762F5DB5EB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06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534371-BA96-415F-A47C-70976B739343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5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56D"/>
                </a:solidFill>
                <a:latin typeface="Aptos"/>
                <a:ea typeface="Aptos"/>
                <a:cs typeface="Aptos"/>
              </a:rPr>
              <a:t>Farmer Marketplace • Presentation deck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6D3C88-D22B-4279-B361-6EAB44047F82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44EC46-51A1-4C4E-AF87-183D12EF8307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06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F64593A-ADC8-45BC-BC64-019F47D221A2}"/>
              </a:ext>
            </a:extLst>
          </p:cNvPr>
          <p:cNvSpPr>
            <a:spLocks noGrp="1"/>
          </p:cNvSpPr>
          <p:nvPr/>
        </p:nvSpPr>
        <p:spPr>
          <a:xfrm>
            <a:off x="342900" y="1695450"/>
            <a:ext cx="541020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86B909-2E22-4D0A-926C-F36BDF7F65DA}"/>
              </a:ext>
            </a:extLst>
          </p:cNvPr>
          <p:cNvSpPr>
            <a:spLocks noGrp="1"/>
          </p:cNvSpPr>
          <p:nvPr/>
        </p:nvSpPr>
        <p:spPr>
          <a:xfrm>
            <a:off x="495300" y="1828800"/>
            <a:ext cx="57150" cy="373380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B8A4DC-AFB7-445A-A491-CB252216BF70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Farmer workspace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F63664-47AC-4E20-A7CA-7C679F117827}"/>
              </a:ext>
            </a:extLst>
          </p:cNvPr>
          <p:cNvSpPr>
            <a:spLocks noGrp="1"/>
          </p:cNvSpPr>
          <p:nvPr/>
        </p:nvSpPr>
        <p:spPr>
          <a:xfrm>
            <a:off x="647700" y="230505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Manage products, stock, and profile settings without leaving the dashboard.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6EF6A37-E9A8-4752-A43C-BDE3D2C92F9C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EAF2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9446562-16AC-4BA6-BBB0-264E2AFFCD84}"/>
              </a:ext>
            </a:extLst>
          </p:cNvPr>
          <p:cNvSpPr>
            <a:spLocks noGrp="1"/>
          </p:cNvSpPr>
          <p:nvPr/>
        </p:nvSpPr>
        <p:spPr>
          <a:xfrm>
            <a:off x="819150" y="3067050"/>
            <a:ext cx="57150" cy="78105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C52A3D-6A39-4435-B17E-5EC81D4FD198}"/>
              </a:ext>
            </a:extLst>
          </p:cNvPr>
          <p:cNvSpPr>
            <a:spLocks noGrp="1"/>
          </p:cNvSpPr>
          <p:nvPr/>
        </p:nvSpPr>
        <p:spPr>
          <a:xfrm>
            <a:off x="971550" y="3105150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Open listings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1B9D7D-DF25-4CC8-9A4A-1C8F8F532CE8}"/>
              </a:ext>
            </a:extLst>
          </p:cNvPr>
          <p:cNvSpPr>
            <a:spLocks noGrp="1"/>
          </p:cNvSpPr>
          <p:nvPr/>
        </p:nvSpPr>
        <p:spPr>
          <a:xfrm>
            <a:off x="971550" y="3314700"/>
            <a:ext cx="971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ECFEA9-1ADB-48FF-ADD3-61B666D01A87}"/>
              </a:ext>
            </a:extLst>
          </p:cNvPr>
          <p:cNvSpPr>
            <a:spLocks noGrp="1"/>
          </p:cNvSpPr>
          <p:nvPr/>
        </p:nvSpPr>
        <p:spPr>
          <a:xfrm>
            <a:off x="2209800" y="2933700"/>
            <a:ext cx="1428750" cy="1047750"/>
          </a:xfrm>
          <a:prstGeom prst="roundRect">
            <a:avLst>
              <a:gd name="adj" fmla="val 7273"/>
            </a:avLst>
          </a:prstGeom>
          <a:solidFill>
            <a:srgbClr val="FFF1D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C472D8-2A24-4CAA-9FFE-C3C6EEDB63F2}"/>
              </a:ext>
            </a:extLst>
          </p:cNvPr>
          <p:cNvSpPr>
            <a:spLocks noGrp="1"/>
          </p:cNvSpPr>
          <p:nvPr/>
        </p:nvSpPr>
        <p:spPr>
          <a:xfrm>
            <a:off x="2362200" y="3067050"/>
            <a:ext cx="57150" cy="78105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365C1E-DA81-4947-8C86-274255F4288E}"/>
              </a:ext>
            </a:extLst>
          </p:cNvPr>
          <p:cNvSpPr>
            <a:spLocks noGrp="1"/>
          </p:cNvSpPr>
          <p:nvPr/>
        </p:nvSpPr>
        <p:spPr>
          <a:xfrm>
            <a:off x="2514600" y="3105150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Low stock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FE3472-2E0E-40F5-9D32-117E5F9F40CC}"/>
              </a:ext>
            </a:extLst>
          </p:cNvPr>
          <p:cNvSpPr>
            <a:spLocks noGrp="1"/>
          </p:cNvSpPr>
          <p:nvPr/>
        </p:nvSpPr>
        <p:spPr>
          <a:xfrm>
            <a:off x="2514600" y="3314700"/>
            <a:ext cx="971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89633C8-98DE-42A4-AAD4-332BA38D1036}"/>
              </a:ext>
            </a:extLst>
          </p:cNvPr>
          <p:cNvSpPr>
            <a:spLocks noGrp="1"/>
          </p:cNvSpPr>
          <p:nvPr/>
        </p:nvSpPr>
        <p:spPr>
          <a:xfrm>
            <a:off x="3752850" y="2933700"/>
            <a:ext cx="1676400" cy="1047750"/>
          </a:xfrm>
          <a:prstGeom prst="roundRect">
            <a:avLst>
              <a:gd name="adj" fmla="val 7273"/>
            </a:avLst>
          </a:prstGeom>
          <a:solidFill>
            <a:srgbClr val="E8EEF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E98033-25F5-4268-92BA-F57A2F993CDF}"/>
              </a:ext>
            </a:extLst>
          </p:cNvPr>
          <p:cNvSpPr>
            <a:spLocks noGrp="1"/>
          </p:cNvSpPr>
          <p:nvPr/>
        </p:nvSpPr>
        <p:spPr>
          <a:xfrm>
            <a:off x="3905250" y="3067050"/>
            <a:ext cx="57150" cy="78105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39A52E-E5DD-4377-AEA8-85F1F85E7E86}"/>
              </a:ext>
            </a:extLst>
          </p:cNvPr>
          <p:cNvSpPr>
            <a:spLocks noGrp="1"/>
          </p:cNvSpPr>
          <p:nvPr/>
        </p:nvSpPr>
        <p:spPr>
          <a:xfrm>
            <a:off x="4057650" y="3105150"/>
            <a:ext cx="1219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Pending orders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B44866-28A5-45CC-A435-F4C06514288D}"/>
              </a:ext>
            </a:extLst>
          </p:cNvPr>
          <p:cNvSpPr>
            <a:spLocks noGrp="1"/>
          </p:cNvSpPr>
          <p:nvPr/>
        </p:nvSpPr>
        <p:spPr>
          <a:xfrm>
            <a:off x="4057650" y="3314700"/>
            <a:ext cx="12192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59B0191-4A3A-42F5-82BC-3AB1416C27CD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866900" cy="285750"/>
          </a:xfrm>
          <a:prstGeom prst="roundRect">
            <a:avLst>
              <a:gd name="adj" fmla="val 26667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BD3612E-7938-4DF7-AD32-6C6DA205ABCC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Store settings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FDF6B12-F5B4-47BF-8386-BF063CE6E231}"/>
              </a:ext>
            </a:extLst>
          </p:cNvPr>
          <p:cNvSpPr>
            <a:spLocks noGrp="1"/>
          </p:cNvSpPr>
          <p:nvPr/>
        </p:nvSpPr>
        <p:spPr>
          <a:xfrm>
            <a:off x="2647950" y="4953000"/>
            <a:ext cx="1181100" cy="285750"/>
          </a:xfrm>
          <a:prstGeom prst="roundRect">
            <a:avLst>
              <a:gd name="adj" fmla="val 26667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9F87FA3-137C-4CA4-B120-17599F0F277B}"/>
              </a:ext>
            </a:extLst>
          </p:cNvPr>
          <p:cNvSpPr>
            <a:spLocks noGrp="1"/>
          </p:cNvSpPr>
          <p:nvPr/>
        </p:nvSpPr>
        <p:spPr>
          <a:xfrm>
            <a:off x="2724150" y="4972050"/>
            <a:ext cx="1028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Order history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F55951E-D352-4086-B158-5CDE9BC0BC6C}"/>
              </a:ext>
            </a:extLst>
          </p:cNvPr>
          <p:cNvSpPr>
            <a:spLocks noGrp="1"/>
          </p:cNvSpPr>
          <p:nvPr/>
        </p:nvSpPr>
        <p:spPr>
          <a:xfrm>
            <a:off x="3943350" y="4953000"/>
            <a:ext cx="1390650" cy="285750"/>
          </a:xfrm>
          <a:prstGeom prst="roundRect">
            <a:avLst>
              <a:gd name="adj" fmla="val 26667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FF21CC-F9F6-447B-9D8E-FF3CF819F463}"/>
              </a:ext>
            </a:extLst>
          </p:cNvPr>
          <p:cNvSpPr>
            <a:spLocks noGrp="1"/>
          </p:cNvSpPr>
          <p:nvPr/>
        </p:nvSpPr>
        <p:spPr>
          <a:xfrm>
            <a:off x="4019550" y="4972050"/>
            <a:ext cx="1238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Profile settings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99AD717-1873-41DF-A24E-A61CADA33DEB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5753100" cy="40005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D5AD46A-1566-467D-B50C-22C417516975}"/>
              </a:ext>
            </a:extLst>
          </p:cNvPr>
          <p:cNvSpPr>
            <a:spLocks noGrp="1"/>
          </p:cNvSpPr>
          <p:nvPr/>
        </p:nvSpPr>
        <p:spPr>
          <a:xfrm>
            <a:off x="6248400" y="1828800"/>
            <a:ext cx="57150" cy="373380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0EC2AD-A2C1-4B0C-9FD2-FD91F1AD08A6}"/>
              </a:ext>
            </a:extLst>
          </p:cNvPr>
          <p:cNvSpPr>
            <a:spLocks noGrp="1"/>
          </p:cNvSpPr>
          <p:nvPr/>
        </p:nvSpPr>
        <p:spPr>
          <a:xfrm>
            <a:off x="6400800" y="1866900"/>
            <a:ext cx="5295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Order flow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9430667-5018-4816-9FBD-2C6C6BCD2044}"/>
              </a:ext>
            </a:extLst>
          </p:cNvPr>
          <p:cNvSpPr>
            <a:spLocks noGrp="1"/>
          </p:cNvSpPr>
          <p:nvPr/>
        </p:nvSpPr>
        <p:spPr>
          <a:xfrm>
            <a:off x="6438900" y="2095500"/>
            <a:ext cx="342900" cy="342900"/>
          </a:xfrm>
          <a:prstGeom prst="ellipse">
            <a:avLst/>
          </a:prstGeom>
          <a:solidFill>
            <a:srgbClr val="133F30"/>
          </a:solidFill>
          <a:ln w="9525">
            <a:solidFill>
              <a:srgbClr val="133F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A4D62B1-DB9F-4802-BBB2-9C22AC6A7F3F}"/>
              </a:ext>
            </a:extLst>
          </p:cNvPr>
          <p:cNvSpPr>
            <a:spLocks noGrp="1"/>
          </p:cNvSpPr>
          <p:nvPr/>
        </p:nvSpPr>
        <p:spPr>
          <a:xfrm>
            <a:off x="6438900" y="213360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D67CB5-53C0-48FB-A885-6F92B4315F3D}"/>
              </a:ext>
            </a:extLst>
          </p:cNvPr>
          <p:cNvSpPr>
            <a:spLocks noGrp="1"/>
          </p:cNvSpPr>
          <p:nvPr/>
        </p:nvSpPr>
        <p:spPr>
          <a:xfrm>
            <a:off x="6896100" y="2114550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Add product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6128C6B-F235-4937-A43B-7DD92ECDB1BB}"/>
              </a:ext>
            </a:extLst>
          </p:cNvPr>
          <p:cNvSpPr>
            <a:spLocks noGrp="1"/>
          </p:cNvSpPr>
          <p:nvPr/>
        </p:nvSpPr>
        <p:spPr>
          <a:xfrm>
            <a:off x="6896100" y="23241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Publish the listing with images, price, and stock.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B3B7D7-3660-4D8F-96AB-87A52DCA9046}"/>
              </a:ext>
            </a:extLst>
          </p:cNvPr>
          <p:cNvSpPr>
            <a:spLocks noGrp="1"/>
          </p:cNvSpPr>
          <p:nvPr/>
        </p:nvSpPr>
        <p:spPr>
          <a:xfrm>
            <a:off x="6496050" y="24384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6A4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A504CBE-2B62-4DC8-91FB-6987AEFCDEF5}"/>
              </a:ext>
            </a:extLst>
          </p:cNvPr>
          <p:cNvSpPr>
            <a:spLocks noGrp="1"/>
          </p:cNvSpPr>
          <p:nvPr/>
        </p:nvSpPr>
        <p:spPr>
          <a:xfrm>
            <a:off x="6438900" y="2724150"/>
            <a:ext cx="342900" cy="342900"/>
          </a:xfrm>
          <a:prstGeom prst="ellipse">
            <a:avLst/>
          </a:prstGeom>
          <a:solidFill>
            <a:srgbClr val="D59B2B"/>
          </a:solidFill>
          <a:ln w="9525">
            <a:solidFill>
              <a:srgbClr val="D59B2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5FF908-70A9-4033-AB97-A61696E4A2ED}"/>
              </a:ext>
            </a:extLst>
          </p:cNvPr>
          <p:cNvSpPr>
            <a:spLocks noGrp="1"/>
          </p:cNvSpPr>
          <p:nvPr/>
        </p:nvSpPr>
        <p:spPr>
          <a:xfrm>
            <a:off x="6438900" y="27622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7F3BD5A-5FBF-40D7-8485-25967B051E75}"/>
              </a:ext>
            </a:extLst>
          </p:cNvPr>
          <p:cNvSpPr>
            <a:spLocks noGrp="1"/>
          </p:cNvSpPr>
          <p:nvPr/>
        </p:nvSpPr>
        <p:spPr>
          <a:xfrm>
            <a:off x="6896100" y="2743200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Edit stock and price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9A74EDD-A969-4516-9DFC-C9D1E85EE2A7}"/>
              </a:ext>
            </a:extLst>
          </p:cNvPr>
          <p:cNvSpPr>
            <a:spLocks noGrp="1"/>
          </p:cNvSpPr>
          <p:nvPr/>
        </p:nvSpPr>
        <p:spPr>
          <a:xfrm>
            <a:off x="6896100" y="29527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Keep the storefront accurate as inventory changes.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D68D8D-4F6F-42FE-BF51-9047C3FF6577}"/>
              </a:ext>
            </a:extLst>
          </p:cNvPr>
          <p:cNvSpPr>
            <a:spLocks noGrp="1"/>
          </p:cNvSpPr>
          <p:nvPr/>
        </p:nvSpPr>
        <p:spPr>
          <a:xfrm>
            <a:off x="6496050" y="306705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6A4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C2B291-C9DD-4FB7-A1EE-170034D9E15A}"/>
              </a:ext>
            </a:extLst>
          </p:cNvPr>
          <p:cNvSpPr>
            <a:spLocks noGrp="1"/>
          </p:cNvSpPr>
          <p:nvPr/>
        </p:nvSpPr>
        <p:spPr>
          <a:xfrm>
            <a:off x="6438900" y="3352800"/>
            <a:ext cx="342900" cy="342900"/>
          </a:xfrm>
          <a:prstGeom prst="ellipse">
            <a:avLst/>
          </a:prstGeom>
          <a:solidFill>
            <a:srgbClr val="133F30"/>
          </a:solidFill>
          <a:ln w="9525">
            <a:solidFill>
              <a:srgbClr val="133F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A2C89C7-F9A4-439F-BDCC-7769C2CCF647}"/>
              </a:ext>
            </a:extLst>
          </p:cNvPr>
          <p:cNvSpPr>
            <a:spLocks noGrp="1"/>
          </p:cNvSpPr>
          <p:nvPr/>
        </p:nvSpPr>
        <p:spPr>
          <a:xfrm>
            <a:off x="6438900" y="339090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4DA8DCB-77B2-4D28-92BD-6B92FE6B183B}"/>
              </a:ext>
            </a:extLst>
          </p:cNvPr>
          <p:cNvSpPr>
            <a:spLocks noGrp="1"/>
          </p:cNvSpPr>
          <p:nvPr/>
        </p:nvSpPr>
        <p:spPr>
          <a:xfrm>
            <a:off x="6896100" y="3371850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Confirm order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DB360D0-D511-4485-8194-BD028E0AB6CA}"/>
              </a:ext>
            </a:extLst>
          </p:cNvPr>
          <p:cNvSpPr>
            <a:spLocks noGrp="1"/>
          </p:cNvSpPr>
          <p:nvPr/>
        </p:nvSpPr>
        <p:spPr>
          <a:xfrm>
            <a:off x="6896100" y="35814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Accept the buyer order once payment or verification is complete.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650378-CFE5-41E2-8B49-F6B9D70992CB}"/>
              </a:ext>
            </a:extLst>
          </p:cNvPr>
          <p:cNvSpPr>
            <a:spLocks noGrp="1"/>
          </p:cNvSpPr>
          <p:nvPr/>
        </p:nvSpPr>
        <p:spPr>
          <a:xfrm>
            <a:off x="6496050" y="369570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6A4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1D82A7B-77AE-41B0-8702-AB7AF6D9C130}"/>
              </a:ext>
            </a:extLst>
          </p:cNvPr>
          <p:cNvSpPr>
            <a:spLocks noGrp="1"/>
          </p:cNvSpPr>
          <p:nvPr/>
        </p:nvSpPr>
        <p:spPr>
          <a:xfrm>
            <a:off x="6438900" y="3981450"/>
            <a:ext cx="342900" cy="342900"/>
          </a:xfrm>
          <a:prstGeom prst="ellipse">
            <a:avLst/>
          </a:prstGeom>
          <a:solidFill>
            <a:srgbClr val="D59B2B"/>
          </a:solidFill>
          <a:ln w="9525">
            <a:solidFill>
              <a:srgbClr val="D59B2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B300D27-BC05-400F-80E2-AB7950D66C93}"/>
              </a:ext>
            </a:extLst>
          </p:cNvPr>
          <p:cNvSpPr>
            <a:spLocks noGrp="1"/>
          </p:cNvSpPr>
          <p:nvPr/>
        </p:nvSpPr>
        <p:spPr>
          <a:xfrm>
            <a:off x="6438900" y="401955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E7730CA-02E2-41C8-AB93-D025115E2651}"/>
              </a:ext>
            </a:extLst>
          </p:cNvPr>
          <p:cNvSpPr>
            <a:spLocks noGrp="1"/>
          </p:cNvSpPr>
          <p:nvPr/>
        </p:nvSpPr>
        <p:spPr>
          <a:xfrm>
            <a:off x="6896100" y="4000500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Mark delivered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701069E-AEC2-4A6D-B660-166ED275FF1E}"/>
              </a:ext>
            </a:extLst>
          </p:cNvPr>
          <p:cNvSpPr>
            <a:spLocks noGrp="1"/>
          </p:cNvSpPr>
          <p:nvPr/>
        </p:nvSpPr>
        <p:spPr>
          <a:xfrm>
            <a:off x="6896100" y="42100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Close the order after delivery and update history.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7D233CE-893C-4083-8B71-61752E5576F0}"/>
              </a:ext>
            </a:extLst>
          </p:cNvPr>
          <p:cNvSpPr>
            <a:spLocks noGrp="1"/>
          </p:cNvSpPr>
          <p:nvPr/>
        </p:nvSpPr>
        <p:spPr>
          <a:xfrm>
            <a:off x="6496050" y="4324350"/>
            <a:ext cx="266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6A4A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3E4CAA8-4232-41F5-9D30-D9F65B90035B}"/>
              </a:ext>
            </a:extLst>
          </p:cNvPr>
          <p:cNvSpPr>
            <a:spLocks noGrp="1"/>
          </p:cNvSpPr>
          <p:nvPr/>
        </p:nvSpPr>
        <p:spPr>
          <a:xfrm>
            <a:off x="6438900" y="4610100"/>
            <a:ext cx="342900" cy="342900"/>
          </a:xfrm>
          <a:prstGeom prst="ellipse">
            <a:avLst/>
          </a:prstGeom>
          <a:solidFill>
            <a:srgbClr val="133F30"/>
          </a:solidFill>
          <a:ln w="9525">
            <a:solidFill>
              <a:srgbClr val="133F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E257610-486B-49CF-B1F6-5DDC9523F71C}"/>
              </a:ext>
            </a:extLst>
          </p:cNvPr>
          <p:cNvSpPr>
            <a:spLocks noGrp="1"/>
          </p:cNvSpPr>
          <p:nvPr/>
        </p:nvSpPr>
        <p:spPr>
          <a:xfrm>
            <a:off x="6438900" y="4648200"/>
            <a:ext cx="342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2053582-301C-43DD-AEB4-14427CCB8715}"/>
              </a:ext>
            </a:extLst>
          </p:cNvPr>
          <p:cNvSpPr>
            <a:spLocks noGrp="1"/>
          </p:cNvSpPr>
          <p:nvPr/>
        </p:nvSpPr>
        <p:spPr>
          <a:xfrm>
            <a:off x="6896100" y="4629150"/>
            <a:ext cx="428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Review history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64EF46E-5BFD-487C-9604-968C4F8FA219}"/>
              </a:ext>
            </a:extLst>
          </p:cNvPr>
          <p:cNvSpPr>
            <a:spLocks noGrp="1"/>
          </p:cNvSpPr>
          <p:nvPr/>
        </p:nvSpPr>
        <p:spPr>
          <a:xfrm>
            <a:off x="6896100" y="483870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Track completed orders and pending work.</a:t>
            </a:r>
          </a:p>
        </p:txBody>
      </p:sp>
    </p:spTree>
    <p:extLst>
      <p:ext uri="{BB962C8B-B14F-4D97-AF65-F5344CB8AC3E}">
        <p14:creationId xmlns:p14="http://schemas.microsoft.com/office/powerpoint/2010/main" val="76165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F2DFAEA6-B2D4-449A-BABA-21D7356F3F6F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4D9F9C3-B0CD-4059-A721-97A9FCADF64B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B38255-9AB0-4D85-A3AF-6FB9CF62B491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PAYMENT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7C495E-4EA8-49AF-A0F6-4B37ED90093D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Checkout is built to feel real.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22DAD4-9750-47A6-A85B-2C0B6526EA18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5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F0E8"/>
                </a:solidFill>
                <a:latin typeface="Aptos"/>
                <a:ea typeface="Aptos"/>
                <a:cs typeface="Aptos"/>
              </a:rPr>
              <a:t>Stripe powers secure card checkout while mobile-money and cash paths keep the assignment complete.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5DCBF3-D839-4B92-BE8C-672CE9864548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D34DB2-BE1E-4738-8584-8CD57B8CE419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07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ECC80-0732-408B-84C2-193C8E4B9059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5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56D"/>
                </a:solidFill>
                <a:latin typeface="Aptos"/>
                <a:ea typeface="Aptos"/>
                <a:cs typeface="Aptos"/>
              </a:rPr>
              <a:t>Farmer Marketplace • Presentation deck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B716B4-F8C7-420F-A48D-AE6C87596D53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563677-D395-4E79-90D1-55801CD83AC7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07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E7B920-7959-4F06-980F-1FD3E9E947C9}"/>
              </a:ext>
            </a:extLst>
          </p:cNvPr>
          <p:cNvSpPr>
            <a:spLocks noGrp="1"/>
          </p:cNvSpPr>
          <p:nvPr/>
        </p:nvSpPr>
        <p:spPr>
          <a:xfrm>
            <a:off x="342900" y="1695450"/>
            <a:ext cx="4762500" cy="403860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BFE362-E9CA-42C9-9316-46A4B43026C9}"/>
              </a:ext>
            </a:extLst>
          </p:cNvPr>
          <p:cNvSpPr>
            <a:spLocks noGrp="1"/>
          </p:cNvSpPr>
          <p:nvPr/>
        </p:nvSpPr>
        <p:spPr>
          <a:xfrm>
            <a:off x="495300" y="1828800"/>
            <a:ext cx="57150" cy="377190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637AC-05E6-4498-BE64-62CDA78E938C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4305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Cart summary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DC2D1F-D584-40D1-AFC0-D8D18C17533C}"/>
              </a:ext>
            </a:extLst>
          </p:cNvPr>
          <p:cNvSpPr>
            <a:spLocks noGrp="1"/>
          </p:cNvSpPr>
          <p:nvPr/>
        </p:nvSpPr>
        <p:spPr>
          <a:xfrm>
            <a:off x="647700" y="2362200"/>
            <a:ext cx="4305300" cy="2667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2 items in cart</a:t>
            </a:r>
          </a:p>
          <a:p>
            <a:endParaRPr sz="1350" b="0">
              <a:solidFill>
                <a:srgbClr val="173124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Tomatoes × 3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Rice basket × 1</a:t>
            </a:r>
          </a:p>
          <a:p>
            <a:endParaRPr sz="1350" b="0">
              <a:solidFill>
                <a:srgbClr val="173124"/>
              </a:solidFill>
              <a:latin typeface="Aptos"/>
              <a:ea typeface="Aptos"/>
              <a:cs typeface="Aptos"/>
            </a:endParaRP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Subtotal                Le 265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Delivery                 Le 20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Total                    Le 285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4D8315-F24A-4106-9B05-AD29FFC0CB5E}"/>
              </a:ext>
            </a:extLst>
          </p:cNvPr>
          <p:cNvSpPr>
            <a:spLocks noGrp="1"/>
          </p:cNvSpPr>
          <p:nvPr/>
        </p:nvSpPr>
        <p:spPr>
          <a:xfrm>
            <a:off x="2667000" y="5276850"/>
            <a:ext cx="2038350" cy="304800"/>
          </a:xfrm>
          <a:prstGeom prst="roundRect">
            <a:avLst>
              <a:gd name="adj" fmla="val 25000"/>
            </a:avLst>
          </a:prstGeom>
          <a:solidFill>
            <a:srgbClr val="133F30"/>
          </a:solidFill>
          <a:ln w="9525">
            <a:solidFill>
              <a:srgbClr val="133F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80014E-FDD1-434F-A287-715C4F8146EC}"/>
              </a:ext>
            </a:extLst>
          </p:cNvPr>
          <p:cNvSpPr>
            <a:spLocks noGrp="1"/>
          </p:cNvSpPr>
          <p:nvPr/>
        </p:nvSpPr>
        <p:spPr>
          <a:xfrm>
            <a:off x="2743200" y="5295900"/>
            <a:ext cx="1885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Proceed to checkout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EBBD02-6EB6-4B35-B827-A3FEF8C1736C}"/>
              </a:ext>
            </a:extLst>
          </p:cNvPr>
          <p:cNvSpPr>
            <a:spLocks noGrp="1"/>
          </p:cNvSpPr>
          <p:nvPr/>
        </p:nvSpPr>
        <p:spPr>
          <a:xfrm>
            <a:off x="5334000" y="1695450"/>
            <a:ext cx="6515100" cy="403860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DD49E7-BBE3-4D83-A613-65BBBFDCFEE7}"/>
              </a:ext>
            </a:extLst>
          </p:cNvPr>
          <p:cNvSpPr>
            <a:spLocks noGrp="1"/>
          </p:cNvSpPr>
          <p:nvPr/>
        </p:nvSpPr>
        <p:spPr>
          <a:xfrm>
            <a:off x="5486400" y="1828800"/>
            <a:ext cx="57150" cy="377190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54232D-D6B7-4984-A8C3-96ABF929123A}"/>
              </a:ext>
            </a:extLst>
          </p:cNvPr>
          <p:cNvSpPr>
            <a:spLocks noGrp="1"/>
          </p:cNvSpPr>
          <p:nvPr/>
        </p:nvSpPr>
        <p:spPr>
          <a:xfrm>
            <a:off x="5638800" y="1866900"/>
            <a:ext cx="605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Supported payment methods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0D40AA-9AB9-4717-A423-9E58FD5C74AB}"/>
              </a:ext>
            </a:extLst>
          </p:cNvPr>
          <p:cNvSpPr>
            <a:spLocks noGrp="1"/>
          </p:cNvSpPr>
          <p:nvPr/>
        </p:nvSpPr>
        <p:spPr>
          <a:xfrm>
            <a:off x="5676900" y="2286000"/>
            <a:ext cx="2781300" cy="704850"/>
          </a:xfrm>
          <a:prstGeom prst="roundRect">
            <a:avLst>
              <a:gd name="adj" fmla="val 10811"/>
            </a:avLst>
          </a:prstGeom>
          <a:solidFill>
            <a:srgbClr val="E8EEF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CC3463-C49D-4F6D-A0D6-A1698139AE97}"/>
              </a:ext>
            </a:extLst>
          </p:cNvPr>
          <p:cNvSpPr>
            <a:spLocks noGrp="1"/>
          </p:cNvSpPr>
          <p:nvPr/>
        </p:nvSpPr>
        <p:spPr>
          <a:xfrm>
            <a:off x="5829300" y="2419350"/>
            <a:ext cx="57150" cy="43815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DC4708-2397-4572-8971-74CF459ACC84}"/>
              </a:ext>
            </a:extLst>
          </p:cNvPr>
          <p:cNvSpPr>
            <a:spLocks noGrp="1"/>
          </p:cNvSpPr>
          <p:nvPr/>
        </p:nvSpPr>
        <p:spPr>
          <a:xfrm>
            <a:off x="5981700" y="245745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Stripe secure checkout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13A4A7-1DB1-49CE-BC6E-C83AF0FF3894}"/>
              </a:ext>
            </a:extLst>
          </p:cNvPr>
          <p:cNvSpPr>
            <a:spLocks noGrp="1"/>
          </p:cNvSpPr>
          <p:nvPr/>
        </p:nvSpPr>
        <p:spPr>
          <a:xfrm>
            <a:off x="5981700" y="2647950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Hosted card payment session with webhook confirmation.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B6D5165-AEB6-496D-A0B2-5225820604AB}"/>
              </a:ext>
            </a:extLst>
          </p:cNvPr>
          <p:cNvSpPr>
            <a:spLocks noGrp="1"/>
          </p:cNvSpPr>
          <p:nvPr/>
        </p:nvSpPr>
        <p:spPr>
          <a:xfrm>
            <a:off x="8801100" y="2286000"/>
            <a:ext cx="2705100" cy="704850"/>
          </a:xfrm>
          <a:prstGeom prst="roundRect">
            <a:avLst>
              <a:gd name="adj" fmla="val 10811"/>
            </a:avLst>
          </a:prstGeom>
          <a:solidFill>
            <a:srgbClr val="EAF2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9F70BD-4392-47FC-8686-6FFB6E04F330}"/>
              </a:ext>
            </a:extLst>
          </p:cNvPr>
          <p:cNvSpPr>
            <a:spLocks noGrp="1"/>
          </p:cNvSpPr>
          <p:nvPr/>
        </p:nvSpPr>
        <p:spPr>
          <a:xfrm>
            <a:off x="8953500" y="2419350"/>
            <a:ext cx="57150" cy="43815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9C7F39-CEF2-48FE-8BC4-28F98071C948}"/>
              </a:ext>
            </a:extLst>
          </p:cNvPr>
          <p:cNvSpPr>
            <a:spLocks noGrp="1"/>
          </p:cNvSpPr>
          <p:nvPr/>
        </p:nvSpPr>
        <p:spPr>
          <a:xfrm>
            <a:off x="9105900" y="24574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Orange Money simulation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E7B9085-F9C4-4E18-A0A2-1FFEF929C394}"/>
              </a:ext>
            </a:extLst>
          </p:cNvPr>
          <p:cNvSpPr>
            <a:spLocks noGrp="1"/>
          </p:cNvSpPr>
          <p:nvPr/>
        </p:nvSpPr>
        <p:spPr>
          <a:xfrm>
            <a:off x="9105900" y="2647950"/>
            <a:ext cx="2247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Simulated mobile-money path for the assignment brief.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40F0060-4A57-4C9D-8F5D-397EADF834A2}"/>
              </a:ext>
            </a:extLst>
          </p:cNvPr>
          <p:cNvSpPr>
            <a:spLocks noGrp="1"/>
          </p:cNvSpPr>
          <p:nvPr/>
        </p:nvSpPr>
        <p:spPr>
          <a:xfrm>
            <a:off x="5676900" y="3181350"/>
            <a:ext cx="2781300" cy="704850"/>
          </a:xfrm>
          <a:prstGeom prst="roundRect">
            <a:avLst>
              <a:gd name="adj" fmla="val 10811"/>
            </a:avLst>
          </a:prstGeom>
          <a:solidFill>
            <a:srgbClr val="FFF1D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5DDCAD5-7865-49F1-B8EA-3685B1CEB6CD}"/>
              </a:ext>
            </a:extLst>
          </p:cNvPr>
          <p:cNvSpPr>
            <a:spLocks noGrp="1"/>
          </p:cNvSpPr>
          <p:nvPr/>
        </p:nvSpPr>
        <p:spPr>
          <a:xfrm>
            <a:off x="5829300" y="3314700"/>
            <a:ext cx="57150" cy="43815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47641D-327C-4995-95E6-FADF2A4534D7}"/>
              </a:ext>
            </a:extLst>
          </p:cNvPr>
          <p:cNvSpPr>
            <a:spLocks noGrp="1"/>
          </p:cNvSpPr>
          <p:nvPr/>
        </p:nvSpPr>
        <p:spPr>
          <a:xfrm>
            <a:off x="5981700" y="3352800"/>
            <a:ext cx="2324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Africell Money simulation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D8BC40-3DA2-462D-BA12-261F381F5630}"/>
              </a:ext>
            </a:extLst>
          </p:cNvPr>
          <p:cNvSpPr>
            <a:spLocks noGrp="1"/>
          </p:cNvSpPr>
          <p:nvPr/>
        </p:nvSpPr>
        <p:spPr>
          <a:xfrm>
            <a:off x="5981700" y="3543300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Second simulated mobile-money option for demonstration.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A041811-7D89-4625-8197-243DA1769BF3}"/>
              </a:ext>
            </a:extLst>
          </p:cNvPr>
          <p:cNvSpPr>
            <a:spLocks noGrp="1"/>
          </p:cNvSpPr>
          <p:nvPr/>
        </p:nvSpPr>
        <p:spPr>
          <a:xfrm>
            <a:off x="8801100" y="3181350"/>
            <a:ext cx="2705100" cy="704850"/>
          </a:xfrm>
          <a:prstGeom prst="roundRect">
            <a:avLst>
              <a:gd name="adj" fmla="val 10811"/>
            </a:avLst>
          </a:prstGeom>
          <a:solidFill>
            <a:srgbClr val="F9E6E6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8508AF8-235A-4BB8-906F-AE0863EF2C9E}"/>
              </a:ext>
            </a:extLst>
          </p:cNvPr>
          <p:cNvSpPr>
            <a:spLocks noGrp="1"/>
          </p:cNvSpPr>
          <p:nvPr/>
        </p:nvSpPr>
        <p:spPr>
          <a:xfrm>
            <a:off x="8953500" y="3314700"/>
            <a:ext cx="57150" cy="438150"/>
          </a:xfrm>
          <a:prstGeom prst="roundRect">
            <a:avLst>
              <a:gd name="adj" fmla="val 50000"/>
            </a:avLst>
          </a:prstGeom>
          <a:solidFill>
            <a:srgbClr val="C04A3A"/>
          </a:solidFill>
          <a:ln w="0">
            <a:solidFill>
              <a:srgbClr val="C04A3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291895-16AF-4961-B12C-8030444691A3}"/>
              </a:ext>
            </a:extLst>
          </p:cNvPr>
          <p:cNvSpPr>
            <a:spLocks noGrp="1"/>
          </p:cNvSpPr>
          <p:nvPr/>
        </p:nvSpPr>
        <p:spPr>
          <a:xfrm>
            <a:off x="9105900" y="335280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Bank transfer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5E3AF74-260D-46AA-8972-B60B9B3DCCE0}"/>
              </a:ext>
            </a:extLst>
          </p:cNvPr>
          <p:cNvSpPr>
            <a:spLocks noGrp="1"/>
          </p:cNvSpPr>
          <p:nvPr/>
        </p:nvSpPr>
        <p:spPr>
          <a:xfrm>
            <a:off x="9105900" y="3543300"/>
            <a:ext cx="2247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Manual payment path that still completes the order flow.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0503160-5909-46A0-B3AF-F4CC06182B9D}"/>
              </a:ext>
            </a:extLst>
          </p:cNvPr>
          <p:cNvSpPr>
            <a:spLocks noGrp="1"/>
          </p:cNvSpPr>
          <p:nvPr/>
        </p:nvSpPr>
        <p:spPr>
          <a:xfrm>
            <a:off x="7239000" y="4076700"/>
            <a:ext cx="2705100" cy="704850"/>
          </a:xfrm>
          <a:prstGeom prst="roundRect">
            <a:avLst>
              <a:gd name="adj" fmla="val 10811"/>
            </a:avLst>
          </a:prstGeom>
          <a:solidFill>
            <a:srgbClr val="F2F0FB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6ED6C4D-55E7-4A48-A497-1C5F9146EC89}"/>
              </a:ext>
            </a:extLst>
          </p:cNvPr>
          <p:cNvSpPr>
            <a:spLocks noGrp="1"/>
          </p:cNvSpPr>
          <p:nvPr/>
        </p:nvSpPr>
        <p:spPr>
          <a:xfrm>
            <a:off x="7391400" y="4210050"/>
            <a:ext cx="57150" cy="438150"/>
          </a:xfrm>
          <a:prstGeom prst="roundRect">
            <a:avLst>
              <a:gd name="adj" fmla="val 50000"/>
            </a:avLst>
          </a:prstGeom>
          <a:solidFill>
            <a:srgbClr val="7A55D4"/>
          </a:solidFill>
          <a:ln w="0">
            <a:solidFill>
              <a:srgbClr val="7A55D4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B640F1F-3EBB-4D3D-BB83-1026FC34C097}"/>
              </a:ext>
            </a:extLst>
          </p:cNvPr>
          <p:cNvSpPr>
            <a:spLocks noGrp="1"/>
          </p:cNvSpPr>
          <p:nvPr/>
        </p:nvSpPr>
        <p:spPr>
          <a:xfrm>
            <a:off x="7543800" y="4248150"/>
            <a:ext cx="2247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Cash on delivery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528E5E-243E-4AC0-9BDC-C23770430FA8}"/>
              </a:ext>
            </a:extLst>
          </p:cNvPr>
          <p:cNvSpPr>
            <a:spLocks noGrp="1"/>
          </p:cNvSpPr>
          <p:nvPr/>
        </p:nvSpPr>
        <p:spPr>
          <a:xfrm>
            <a:off x="7543800" y="4438650"/>
            <a:ext cx="22479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073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369"/>
                </a:solidFill>
                <a:latin typeface="Aptos"/>
                <a:ea typeface="Aptos"/>
                <a:cs typeface="Aptos"/>
              </a:rPr>
              <a:t>Functional manual option for offline buyers.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504AADD-6AA3-4A2C-A9F5-1706FF075D4A}"/>
              </a:ext>
            </a:extLst>
          </p:cNvPr>
          <p:cNvSpPr>
            <a:spLocks noGrp="1"/>
          </p:cNvSpPr>
          <p:nvPr/>
        </p:nvSpPr>
        <p:spPr>
          <a:xfrm>
            <a:off x="5753100" y="5219700"/>
            <a:ext cx="5829300" cy="304800"/>
          </a:xfrm>
          <a:prstGeom prst="roundRect">
            <a:avLst>
              <a:gd name="adj" fmla="val 25000"/>
            </a:avLst>
          </a:prstGeom>
          <a:solidFill>
            <a:srgbClr val="EEF4EC"/>
          </a:solidFill>
          <a:ln w="9525">
            <a:solidFill>
              <a:srgbClr val="EEF4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9F5FC00-7A05-48FD-BA1C-C283902BD03E}"/>
              </a:ext>
            </a:extLst>
          </p:cNvPr>
          <p:cNvSpPr>
            <a:spLocks noGrp="1"/>
          </p:cNvSpPr>
          <p:nvPr/>
        </p:nvSpPr>
        <p:spPr>
          <a:xfrm>
            <a:off x="5829300" y="5238750"/>
            <a:ext cx="5676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Flow: add to cart → review order → choose payment → webhook / return URL refreshes status</a:t>
            </a:r>
          </a:p>
        </p:txBody>
      </p:sp>
    </p:spTree>
    <p:extLst>
      <p:ext uri="{BB962C8B-B14F-4D97-AF65-F5344CB8AC3E}">
        <p14:creationId xmlns:p14="http://schemas.microsoft.com/office/powerpoint/2010/main" val="2071077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DB978E3-0B91-4A29-AD08-64CD5CA8C967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DC8A08-5633-4526-854E-F88821063276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E99D5C-A082-4A8D-9883-7D94572D155A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C0799F-9F4D-4228-BA99-B5FD4E66B351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Moderation tools keep the marketplace trustworthy.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34D01C-A264-46E5-BBF5-36A00189D85B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5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F0E8"/>
                </a:solidFill>
                <a:latin typeface="Aptos"/>
                <a:ea typeface="Aptos"/>
                <a:cs typeface="Aptos"/>
              </a:rPr>
              <a:t>The optional admin panel handles verification, user management, and transaction oversight.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D88E77-BD9C-4F5D-96FF-9A1F0A1E0102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4D221E-B7B6-48F3-A4EC-07EB58E19598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08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08B8FC-BF4F-4110-88B4-900AECC41F7A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5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56D"/>
                </a:solidFill>
                <a:latin typeface="Aptos"/>
                <a:ea typeface="Aptos"/>
                <a:cs typeface="Aptos"/>
              </a:rPr>
              <a:t>Farmer Marketplace • Presentation deck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DACF740-5AFC-4FD7-9234-023C02262F42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3D1031-1BAC-4330-A70E-578F520131AB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08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BC8FBB-B20B-4F49-B6AD-CF29930EE9CE}"/>
              </a:ext>
            </a:extLst>
          </p:cNvPr>
          <p:cNvSpPr>
            <a:spLocks noGrp="1"/>
          </p:cNvSpPr>
          <p:nvPr/>
        </p:nvSpPr>
        <p:spPr>
          <a:xfrm>
            <a:off x="342900" y="1714500"/>
            <a:ext cx="3733800" cy="990600"/>
          </a:xfrm>
          <a:prstGeom prst="roundRect">
            <a:avLst>
              <a:gd name="adj" fmla="val 7692"/>
            </a:avLst>
          </a:prstGeom>
          <a:solidFill>
            <a:srgbClr val="EAF2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977BBE-5F3E-46CE-B8BD-2276EEC01325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57150" cy="72390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C19850-23B2-44DA-A67E-51478930235C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Verify farmers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C5A429-978C-46A9-8DE4-F66F35555086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Approve sellers and mark trusted accounts.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BD9E11-A57A-4A16-AACD-B1B8C7FDCAD0}"/>
              </a:ext>
            </a:extLst>
          </p:cNvPr>
          <p:cNvSpPr>
            <a:spLocks noGrp="1"/>
          </p:cNvSpPr>
          <p:nvPr/>
        </p:nvSpPr>
        <p:spPr>
          <a:xfrm>
            <a:off x="4229100" y="1714500"/>
            <a:ext cx="3733800" cy="990600"/>
          </a:xfrm>
          <a:prstGeom prst="roundRect">
            <a:avLst>
              <a:gd name="adj" fmla="val 7692"/>
            </a:avLst>
          </a:prstGeom>
          <a:solidFill>
            <a:srgbClr val="FFF1D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3EA7F5-AD1C-4875-AA54-0689518E070A}"/>
              </a:ext>
            </a:extLst>
          </p:cNvPr>
          <p:cNvSpPr>
            <a:spLocks noGrp="1"/>
          </p:cNvSpPr>
          <p:nvPr/>
        </p:nvSpPr>
        <p:spPr>
          <a:xfrm>
            <a:off x="4381500" y="1847850"/>
            <a:ext cx="57150" cy="72390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C3B9FC-FD9E-4508-91E8-033124437DA1}"/>
              </a:ext>
            </a:extLst>
          </p:cNvPr>
          <p:cNvSpPr>
            <a:spLocks noGrp="1"/>
          </p:cNvSpPr>
          <p:nvPr/>
        </p:nvSpPr>
        <p:spPr>
          <a:xfrm>
            <a:off x="4533900" y="18859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Manage users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4876B0-15FA-4DEA-86E3-8707DA62D4FF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Suspend, restore, and monitor buyers and farmers.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7EBBD99-B8FD-4472-B0B8-CED9C7F6CB71}"/>
              </a:ext>
            </a:extLst>
          </p:cNvPr>
          <p:cNvSpPr>
            <a:spLocks noGrp="1"/>
          </p:cNvSpPr>
          <p:nvPr/>
        </p:nvSpPr>
        <p:spPr>
          <a:xfrm>
            <a:off x="8115300" y="1714500"/>
            <a:ext cx="3733800" cy="990600"/>
          </a:xfrm>
          <a:prstGeom prst="roundRect">
            <a:avLst>
              <a:gd name="adj" fmla="val 7692"/>
            </a:avLst>
          </a:prstGeom>
          <a:solidFill>
            <a:srgbClr val="E8EEF9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A92191-4C50-4EA2-996B-A7CC5AD28715}"/>
              </a:ext>
            </a:extLst>
          </p:cNvPr>
          <p:cNvSpPr>
            <a:spLocks noGrp="1"/>
          </p:cNvSpPr>
          <p:nvPr/>
        </p:nvSpPr>
        <p:spPr>
          <a:xfrm>
            <a:off x="8267700" y="1847850"/>
            <a:ext cx="57150" cy="72390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FE7DF7-AF41-4666-9DF6-12FF6D9A1090}"/>
              </a:ext>
            </a:extLst>
          </p:cNvPr>
          <p:cNvSpPr>
            <a:spLocks noGrp="1"/>
          </p:cNvSpPr>
          <p:nvPr/>
        </p:nvSpPr>
        <p:spPr>
          <a:xfrm>
            <a:off x="8420100" y="18859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Monitor transactions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B2EA40-01E1-4A1B-803B-9FC1EF2DF778}"/>
              </a:ext>
            </a:extLst>
          </p:cNvPr>
          <p:cNvSpPr>
            <a:spLocks noGrp="1"/>
          </p:cNvSpPr>
          <p:nvPr/>
        </p:nvSpPr>
        <p:spPr>
          <a:xfrm>
            <a:off x="8420100" y="222885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Watch order volume, checkout events, and payment status.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959FEEB-B469-4941-8DA8-ACEBEDC3CB91}"/>
              </a:ext>
            </a:extLst>
          </p:cNvPr>
          <p:cNvSpPr>
            <a:spLocks noGrp="1"/>
          </p:cNvSpPr>
          <p:nvPr/>
        </p:nvSpPr>
        <p:spPr>
          <a:xfrm>
            <a:off x="342900" y="3009900"/>
            <a:ext cx="2762250" cy="2247900"/>
          </a:xfrm>
          <a:prstGeom prst="roundRect">
            <a:avLst>
              <a:gd name="adj" fmla="val 3390"/>
            </a:avLst>
          </a:prstGeom>
          <a:solidFill>
            <a:srgbClr val="F9E6E6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0B38DCC-A355-4C98-B435-279BEFB3B887}"/>
              </a:ext>
            </a:extLst>
          </p:cNvPr>
          <p:cNvSpPr>
            <a:spLocks noGrp="1"/>
          </p:cNvSpPr>
          <p:nvPr/>
        </p:nvSpPr>
        <p:spPr>
          <a:xfrm>
            <a:off x="495300" y="3143250"/>
            <a:ext cx="57150" cy="1981200"/>
          </a:xfrm>
          <a:prstGeom prst="roundRect">
            <a:avLst>
              <a:gd name="adj" fmla="val 50000"/>
            </a:avLst>
          </a:prstGeom>
          <a:solidFill>
            <a:srgbClr val="C04A3A"/>
          </a:solidFill>
          <a:ln w="0">
            <a:solidFill>
              <a:srgbClr val="C04A3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9B0307-4BD4-4638-A55E-0FD684BEC1FA}"/>
              </a:ext>
            </a:extLst>
          </p:cNvPr>
          <p:cNvSpPr>
            <a:spLocks noGrp="1"/>
          </p:cNvSpPr>
          <p:nvPr/>
        </p:nvSpPr>
        <p:spPr>
          <a:xfrm>
            <a:off x="647700" y="3181350"/>
            <a:ext cx="2305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Review listings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1BF40A-ACBD-47CC-83B9-F498F258C7D0}"/>
              </a:ext>
            </a:extLst>
          </p:cNvPr>
          <p:cNvSpPr>
            <a:spLocks noGrp="1"/>
          </p:cNvSpPr>
          <p:nvPr/>
        </p:nvSpPr>
        <p:spPr>
          <a:xfrm>
            <a:off x="647700" y="3562350"/>
            <a:ext cx="23050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Spot duplicates, poor content, or suspicious products.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CA988BB-B142-476F-AC2D-F359330E162F}"/>
              </a:ext>
            </a:extLst>
          </p:cNvPr>
          <p:cNvSpPr>
            <a:spLocks noGrp="1"/>
          </p:cNvSpPr>
          <p:nvPr/>
        </p:nvSpPr>
        <p:spPr>
          <a:xfrm>
            <a:off x="3333750" y="3009900"/>
            <a:ext cx="2762250" cy="2247900"/>
          </a:xfrm>
          <a:prstGeom prst="roundRect">
            <a:avLst>
              <a:gd name="adj" fmla="val 3390"/>
            </a:avLst>
          </a:prstGeom>
          <a:solidFill>
            <a:srgbClr val="F2F0FB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F496908-C48E-42AF-8A06-A65361650D6F}"/>
              </a:ext>
            </a:extLst>
          </p:cNvPr>
          <p:cNvSpPr>
            <a:spLocks noGrp="1"/>
          </p:cNvSpPr>
          <p:nvPr/>
        </p:nvSpPr>
        <p:spPr>
          <a:xfrm>
            <a:off x="3486150" y="3143250"/>
            <a:ext cx="57150" cy="1981200"/>
          </a:xfrm>
          <a:prstGeom prst="roundRect">
            <a:avLst>
              <a:gd name="adj" fmla="val 50000"/>
            </a:avLst>
          </a:prstGeom>
          <a:solidFill>
            <a:srgbClr val="7A55D4"/>
          </a:solidFill>
          <a:ln w="0">
            <a:solidFill>
              <a:srgbClr val="7A55D4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7A15D3-8DE8-49D1-B875-0F4AF03550B8}"/>
              </a:ext>
            </a:extLst>
          </p:cNvPr>
          <p:cNvSpPr>
            <a:spLocks noGrp="1"/>
          </p:cNvSpPr>
          <p:nvPr/>
        </p:nvSpPr>
        <p:spPr>
          <a:xfrm>
            <a:off x="3638550" y="3181350"/>
            <a:ext cx="2305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CF7D47-B15E-46E0-9F1F-A119FF90F57D}"/>
              </a:ext>
            </a:extLst>
          </p:cNvPr>
          <p:cNvSpPr>
            <a:spLocks noGrp="1"/>
          </p:cNvSpPr>
          <p:nvPr/>
        </p:nvSpPr>
        <p:spPr>
          <a:xfrm>
            <a:off x="3638550" y="3562350"/>
            <a:ext cx="23050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Keep timestamps and action history for moderation.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7EA6CAB-D9F0-460F-8425-C66999729A5A}"/>
              </a:ext>
            </a:extLst>
          </p:cNvPr>
          <p:cNvSpPr>
            <a:spLocks noGrp="1"/>
          </p:cNvSpPr>
          <p:nvPr/>
        </p:nvSpPr>
        <p:spPr>
          <a:xfrm>
            <a:off x="6324600" y="3009900"/>
            <a:ext cx="2762250" cy="2247900"/>
          </a:xfrm>
          <a:prstGeom prst="roundRect">
            <a:avLst>
              <a:gd name="adj" fmla="val 3390"/>
            </a:avLst>
          </a:prstGeom>
          <a:solidFill>
            <a:srgbClr val="EEF7EA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9733DBB-BD8A-4519-97D5-B3997399D2F2}"/>
              </a:ext>
            </a:extLst>
          </p:cNvPr>
          <p:cNvSpPr>
            <a:spLocks noGrp="1"/>
          </p:cNvSpPr>
          <p:nvPr/>
        </p:nvSpPr>
        <p:spPr>
          <a:xfrm>
            <a:off x="6477000" y="3143250"/>
            <a:ext cx="57150" cy="1981200"/>
          </a:xfrm>
          <a:prstGeom prst="roundRect">
            <a:avLst>
              <a:gd name="adj" fmla="val 50000"/>
            </a:avLst>
          </a:prstGeom>
          <a:solidFill>
            <a:srgbClr val="5B8A31"/>
          </a:solidFill>
          <a:ln w="0">
            <a:solidFill>
              <a:srgbClr val="5B8A31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2ED7C43-50DB-4D07-8D53-0B30309E8043}"/>
              </a:ext>
            </a:extLst>
          </p:cNvPr>
          <p:cNvSpPr>
            <a:spLocks noGrp="1"/>
          </p:cNvSpPr>
          <p:nvPr/>
        </p:nvSpPr>
        <p:spPr>
          <a:xfrm>
            <a:off x="6629400" y="3181350"/>
            <a:ext cx="2305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1AC8CD-0E59-441D-B038-D7297C8AC623}"/>
              </a:ext>
            </a:extLst>
          </p:cNvPr>
          <p:cNvSpPr>
            <a:spLocks noGrp="1"/>
          </p:cNvSpPr>
          <p:nvPr/>
        </p:nvSpPr>
        <p:spPr>
          <a:xfrm>
            <a:off x="6629400" y="3562350"/>
            <a:ext cx="23050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Summaries for orders, payments, and system health.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BA9740A-1C8E-414A-AAD8-C027341E3A62}"/>
              </a:ext>
            </a:extLst>
          </p:cNvPr>
          <p:cNvSpPr>
            <a:spLocks noGrp="1"/>
          </p:cNvSpPr>
          <p:nvPr/>
        </p:nvSpPr>
        <p:spPr>
          <a:xfrm>
            <a:off x="9315450" y="3009900"/>
            <a:ext cx="2533650" cy="2247900"/>
          </a:xfrm>
          <a:prstGeom prst="roundRect">
            <a:avLst>
              <a:gd name="adj" fmla="val 3390"/>
            </a:avLst>
          </a:prstGeom>
          <a:solidFill>
            <a:srgbClr val="EAF1E8"/>
          </a:solidFill>
          <a:ln w="9525">
            <a:solidFill>
              <a:srgbClr val="DCD6C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E41BB2D-2A59-4D59-835A-FAE3FB92D01C}"/>
              </a:ext>
            </a:extLst>
          </p:cNvPr>
          <p:cNvSpPr>
            <a:spLocks noGrp="1"/>
          </p:cNvSpPr>
          <p:nvPr/>
        </p:nvSpPr>
        <p:spPr>
          <a:xfrm>
            <a:off x="9467850" y="3143250"/>
            <a:ext cx="57150" cy="198120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9E4374-99B5-4C20-9D17-7F8CE613FB0D}"/>
              </a:ext>
            </a:extLst>
          </p:cNvPr>
          <p:cNvSpPr>
            <a:spLocks noGrp="1"/>
          </p:cNvSpPr>
          <p:nvPr/>
        </p:nvSpPr>
        <p:spPr>
          <a:xfrm>
            <a:off x="9620250" y="3181350"/>
            <a:ext cx="2076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Farmer verification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00EA835-A76F-49D4-9FA1-D13E08A14D92}"/>
              </a:ext>
            </a:extLst>
          </p:cNvPr>
          <p:cNvSpPr>
            <a:spLocks noGrp="1"/>
          </p:cNvSpPr>
          <p:nvPr/>
        </p:nvSpPr>
        <p:spPr>
          <a:xfrm>
            <a:off x="9620250" y="3562350"/>
            <a:ext cx="20764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Control trust in the seller onboarding flow.</a:t>
            </a:r>
          </a:p>
        </p:txBody>
      </p:sp>
    </p:spTree>
    <p:extLst>
      <p:ext uri="{BB962C8B-B14F-4D97-AF65-F5344CB8AC3E}">
        <p14:creationId xmlns:p14="http://schemas.microsoft.com/office/powerpoint/2010/main" val="455797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0F67998-0232-4C4F-A0BA-BDC79226511B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3CBDF98-761F-4543-B6F2-6DBFB917D31C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51F434-844E-4C79-97DB-68D9A24BE587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910EBB-FBAD-4E72-ABC6-FF2F295229B4}"/>
              </a:ext>
            </a:extLst>
          </p:cNvPr>
          <p:cNvSpPr>
            <a:spLocks noGrp="1"/>
          </p:cNvSpPr>
          <p:nvPr/>
        </p:nvSpPr>
        <p:spPr>
          <a:xfrm>
            <a:off x="457200" y="723900"/>
            <a:ext cx="9525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Netlify, Render, and Neon give us a free launch path.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F6D01-83C8-48AC-86F4-067263A47CC9}"/>
              </a:ext>
            </a:extLst>
          </p:cNvPr>
          <p:cNvSpPr>
            <a:spLocks noGrp="1"/>
          </p:cNvSpPr>
          <p:nvPr/>
        </p:nvSpPr>
        <p:spPr>
          <a:xfrm>
            <a:off x="457200" y="106680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E5F0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5F0E8"/>
                </a:solidFill>
                <a:latin typeface="Aptos"/>
                <a:ea typeface="Aptos"/>
                <a:cs typeface="Aptos"/>
              </a:rPr>
              <a:t>The public frontend, API, and database can be deployed independently without changing the app design.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725859-36D9-4DA4-8534-2F645EB27E2B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808B1-C5B0-444E-BDC6-C1D2E46D3107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09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5AB6EB-06A4-4ACD-BD9E-B375DBFC6D25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5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56D"/>
                </a:solidFill>
                <a:latin typeface="Aptos"/>
                <a:ea typeface="Aptos"/>
                <a:cs typeface="Aptos"/>
              </a:rPr>
              <a:t>Farmer Marketplace • Presentation deck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022D5A-223D-4EEC-B1FD-B71073307DDF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A36E0A-CD2F-4B17-B655-DC3BD89EFE25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09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1A2302-9866-498C-ADBE-673CA2D34678}"/>
              </a:ext>
            </a:extLst>
          </p:cNvPr>
          <p:cNvSpPr>
            <a:spLocks noGrp="1"/>
          </p:cNvSpPr>
          <p:nvPr/>
        </p:nvSpPr>
        <p:spPr>
          <a:xfrm>
            <a:off x="342900" y="1695450"/>
            <a:ext cx="3448050" cy="3676650"/>
          </a:xfrm>
          <a:prstGeom prst="roundRect">
            <a:avLst>
              <a:gd name="adj" fmla="val 2210"/>
            </a:avLst>
          </a:prstGeom>
          <a:solidFill>
            <a:srgbClr val="EAF2EA"/>
          </a:solidFill>
          <a:ln w="9525">
            <a:solidFill>
              <a:srgbClr val="D9E5D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E7FE6C5-B943-4909-8FCB-43293283C0D8}"/>
              </a:ext>
            </a:extLst>
          </p:cNvPr>
          <p:cNvSpPr>
            <a:spLocks noGrp="1"/>
          </p:cNvSpPr>
          <p:nvPr/>
        </p:nvSpPr>
        <p:spPr>
          <a:xfrm>
            <a:off x="495300" y="1828800"/>
            <a:ext cx="57150" cy="340995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410E7A-F0D1-4FDC-AF59-6BA54C296BD0}"/>
              </a:ext>
            </a:extLst>
          </p:cNvPr>
          <p:cNvSpPr>
            <a:spLocks noGrp="1"/>
          </p:cNvSpPr>
          <p:nvPr/>
        </p:nvSpPr>
        <p:spPr>
          <a:xfrm>
            <a:off x="647700" y="186690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Netlify frontend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C8716-8936-421F-9728-2EA950059182}"/>
              </a:ext>
            </a:extLst>
          </p:cNvPr>
          <p:cNvSpPr>
            <a:spLocks noGrp="1"/>
          </p:cNvSpPr>
          <p:nvPr/>
        </p:nvSpPr>
        <p:spPr>
          <a:xfrm>
            <a:off x="647700" y="2362200"/>
            <a:ext cx="299085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Expo web export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Responsive UI hosting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Public user entry point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Payment return handling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240BB7-7907-415C-A1F2-F7A71F0E9B7D}"/>
              </a:ext>
            </a:extLst>
          </p:cNvPr>
          <p:cNvSpPr>
            <a:spLocks noGrp="1"/>
          </p:cNvSpPr>
          <p:nvPr/>
        </p:nvSpPr>
        <p:spPr>
          <a:xfrm>
            <a:off x="3905250" y="31813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DF3EA"/>
          </a:solidFill>
          <a:ln w="9525">
            <a:solidFill>
              <a:srgbClr val="EDF3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E00E7-D2A1-4E12-80D2-CD7266D00C67}"/>
              </a:ext>
            </a:extLst>
          </p:cNvPr>
          <p:cNvSpPr>
            <a:spLocks noGrp="1"/>
          </p:cNvSpPr>
          <p:nvPr/>
        </p:nvSpPr>
        <p:spPr>
          <a:xfrm>
            <a:off x="3981450" y="3200400"/>
            <a:ext cx="19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A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68EADA7-F966-4A35-B86E-3A8EA0F4F238}"/>
              </a:ext>
            </a:extLst>
          </p:cNvPr>
          <p:cNvSpPr>
            <a:spLocks noGrp="1"/>
          </p:cNvSpPr>
          <p:nvPr/>
        </p:nvSpPr>
        <p:spPr>
          <a:xfrm>
            <a:off x="4324350" y="1695450"/>
            <a:ext cx="3448050" cy="3676650"/>
          </a:xfrm>
          <a:prstGeom prst="roundRect">
            <a:avLst>
              <a:gd name="adj" fmla="val 2210"/>
            </a:avLst>
          </a:prstGeom>
          <a:solidFill>
            <a:srgbClr val="FFF1D9"/>
          </a:solidFill>
          <a:ln w="9525">
            <a:solidFill>
              <a:srgbClr val="E9D9B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4A677C-9E21-4685-9B44-C082E56D11F9}"/>
              </a:ext>
            </a:extLst>
          </p:cNvPr>
          <p:cNvSpPr>
            <a:spLocks noGrp="1"/>
          </p:cNvSpPr>
          <p:nvPr/>
        </p:nvSpPr>
        <p:spPr>
          <a:xfrm>
            <a:off x="4476750" y="1828800"/>
            <a:ext cx="57150" cy="3409950"/>
          </a:xfrm>
          <a:prstGeom prst="roundRect">
            <a:avLst>
              <a:gd name="adj" fmla="val 50000"/>
            </a:avLst>
          </a:prstGeom>
          <a:solidFill>
            <a:srgbClr val="D59B2B"/>
          </a:solidFill>
          <a:ln w="0">
            <a:solidFill>
              <a:srgbClr val="D59B2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44E947-CAE6-451A-85DC-0516180A31DC}"/>
              </a:ext>
            </a:extLst>
          </p:cNvPr>
          <p:cNvSpPr>
            <a:spLocks noGrp="1"/>
          </p:cNvSpPr>
          <p:nvPr/>
        </p:nvSpPr>
        <p:spPr>
          <a:xfrm>
            <a:off x="4629150" y="1866900"/>
            <a:ext cx="2990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Render API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C8797D-5B72-4929-9B98-45C4C32F5CBD}"/>
              </a:ext>
            </a:extLst>
          </p:cNvPr>
          <p:cNvSpPr>
            <a:spLocks noGrp="1"/>
          </p:cNvSpPr>
          <p:nvPr/>
        </p:nvSpPr>
        <p:spPr>
          <a:xfrm>
            <a:off x="4629150" y="2362200"/>
            <a:ext cx="299085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`npm run api`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Express server and auth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Stripe webhooks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PostgreSQL connection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A24E6E4-2474-4FC8-89CC-35FA60EAEE56}"/>
              </a:ext>
            </a:extLst>
          </p:cNvPr>
          <p:cNvSpPr>
            <a:spLocks noGrp="1"/>
          </p:cNvSpPr>
          <p:nvPr/>
        </p:nvSpPr>
        <p:spPr>
          <a:xfrm>
            <a:off x="7886700" y="31813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DF3EA"/>
          </a:solidFill>
          <a:ln w="9525">
            <a:solidFill>
              <a:srgbClr val="EDF3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233F7-5DC7-4F3A-804A-A6B1DB81F63E}"/>
              </a:ext>
            </a:extLst>
          </p:cNvPr>
          <p:cNvSpPr>
            <a:spLocks noGrp="1"/>
          </p:cNvSpPr>
          <p:nvPr/>
        </p:nvSpPr>
        <p:spPr>
          <a:xfrm>
            <a:off x="7962900" y="3200400"/>
            <a:ext cx="19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1D6A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A4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463D79F-AB00-43C7-B933-BE54B75736CE}"/>
              </a:ext>
            </a:extLst>
          </p:cNvPr>
          <p:cNvSpPr>
            <a:spLocks noGrp="1"/>
          </p:cNvSpPr>
          <p:nvPr/>
        </p:nvSpPr>
        <p:spPr>
          <a:xfrm>
            <a:off x="8305800" y="1695450"/>
            <a:ext cx="3543300" cy="3676650"/>
          </a:xfrm>
          <a:prstGeom prst="roundRect">
            <a:avLst>
              <a:gd name="adj" fmla="val 2151"/>
            </a:avLst>
          </a:prstGeom>
          <a:solidFill>
            <a:srgbClr val="E8EEF9"/>
          </a:solidFill>
          <a:ln w="9525">
            <a:solidFill>
              <a:srgbClr val="D7E0F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D6CD8BF-98B1-4FEB-9632-AEF0C83E7FFF}"/>
              </a:ext>
            </a:extLst>
          </p:cNvPr>
          <p:cNvSpPr>
            <a:spLocks noGrp="1"/>
          </p:cNvSpPr>
          <p:nvPr/>
        </p:nvSpPr>
        <p:spPr>
          <a:xfrm>
            <a:off x="8458200" y="1828800"/>
            <a:ext cx="57150" cy="3409950"/>
          </a:xfrm>
          <a:prstGeom prst="roundRect">
            <a:avLst>
              <a:gd name="adj" fmla="val 50000"/>
            </a:avLst>
          </a:prstGeom>
          <a:solidFill>
            <a:srgbClr val="3E6EF3"/>
          </a:solidFill>
          <a:ln w="0">
            <a:solidFill>
              <a:srgbClr val="3E6EF3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C2A651-4EA4-4B1D-9D40-29C70BD2C125}"/>
              </a:ext>
            </a:extLst>
          </p:cNvPr>
          <p:cNvSpPr>
            <a:spLocks noGrp="1"/>
          </p:cNvSpPr>
          <p:nvPr/>
        </p:nvSpPr>
        <p:spPr>
          <a:xfrm>
            <a:off x="8610600" y="1866900"/>
            <a:ext cx="3086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Neon PostgreSQL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B50854-B3B1-4458-A29A-37DD92AB9851}"/>
              </a:ext>
            </a:extLst>
          </p:cNvPr>
          <p:cNvSpPr>
            <a:spLocks noGrp="1"/>
          </p:cNvSpPr>
          <p:nvPr/>
        </p:nvSpPr>
        <p:spPr>
          <a:xfrm>
            <a:off x="8610600" y="2362200"/>
            <a:ext cx="308610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`DATABASE_URL` in production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Persistent marketplace state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pgAdmin4-compatible schema</a:t>
            </a:r>
          </a:p>
          <a:p>
            <a:pPr algn="l">
              <a:defRPr sz="120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Free tier friendly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1F41D2C-A416-42F6-AD5A-1D0E7A7ECE62}"/>
              </a:ext>
            </a:extLst>
          </p:cNvPr>
          <p:cNvSpPr>
            <a:spLocks noGrp="1"/>
          </p:cNvSpPr>
          <p:nvPr/>
        </p:nvSpPr>
        <p:spPr>
          <a:xfrm>
            <a:off x="342900" y="5638800"/>
            <a:ext cx="115062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E6A7EB9-C5DA-4C43-B9DD-4CBB0D1FC1A5}"/>
              </a:ext>
            </a:extLst>
          </p:cNvPr>
          <p:cNvSpPr>
            <a:spLocks noGrp="1"/>
          </p:cNvSpPr>
          <p:nvPr/>
        </p:nvSpPr>
        <p:spPr>
          <a:xfrm>
            <a:off x="495300" y="5772150"/>
            <a:ext cx="57150" cy="419100"/>
          </a:xfrm>
          <a:prstGeom prst="roundRect">
            <a:avLst>
              <a:gd name="adj" fmla="val 50000"/>
            </a:avLst>
          </a:prstGeom>
          <a:solidFill>
            <a:srgbClr val="133F30"/>
          </a:solidFill>
          <a:ln w="0">
            <a:solidFill>
              <a:srgbClr val="133F30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86DA1A-0788-4CFD-9D88-93EF038DF22F}"/>
              </a:ext>
            </a:extLst>
          </p:cNvPr>
          <p:cNvSpPr>
            <a:spLocks noGrp="1"/>
          </p:cNvSpPr>
          <p:nvPr/>
        </p:nvSpPr>
        <p:spPr>
          <a:xfrm>
            <a:off x="647700" y="5810250"/>
            <a:ext cx="1104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Key environment values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EE5483-C6FC-47B2-B0DA-715974023BA3}"/>
              </a:ext>
            </a:extLst>
          </p:cNvPr>
          <p:cNvSpPr>
            <a:spLocks noGrp="1"/>
          </p:cNvSpPr>
          <p:nvPr/>
        </p:nvSpPr>
        <p:spPr>
          <a:xfrm>
            <a:off x="647700" y="6094684"/>
            <a:ext cx="1104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73124"/>
                </a:solidFill>
                <a:latin typeface="Aptos"/>
                <a:ea typeface="Aptos"/>
                <a:cs typeface="Aptos"/>
              </a:rPr>
              <a:t>EXPO_PUBLIC_API_URL • CLIENT_ORIGIN • DATABASE_URL • STRIPE_SECRET_KEY • STRIPE_WEBHOOK_SECRET • PAYMENT_RETURN_URL</a:t>
            </a:r>
          </a:p>
        </p:txBody>
      </p:sp>
    </p:spTree>
    <p:extLst>
      <p:ext uri="{BB962C8B-B14F-4D97-AF65-F5344CB8AC3E}">
        <p14:creationId xmlns:p14="http://schemas.microsoft.com/office/powerpoint/2010/main" val="802455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8F2E8"/>
            </a:gs>
            <a:gs pos="100000">
              <a:srgbClr val="FFFDF9"/>
            </a:gs>
          </a:gsLst>
          <a:lin ang="8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41878E8-D1D9-41CD-99DA-8E4FBB864000}"/>
              </a:ext>
            </a:extLst>
          </p:cNvPr>
          <p:cNvSpPr>
            <a:spLocks noGrp="1"/>
          </p:cNvSpPr>
          <p:nvPr/>
        </p:nvSpPr>
        <p:spPr>
          <a:xfrm>
            <a:off x="228600" y="228600"/>
            <a:ext cx="11734800" cy="1162050"/>
          </a:xfrm>
          <a:prstGeom prst="roundRect">
            <a:avLst>
              <a:gd name="adj" fmla="val 6557"/>
            </a:avLst>
          </a:prstGeom>
          <a:gradFill>
            <a:gsLst>
              <a:gs pos="0">
                <a:srgbClr val="133F30"/>
              </a:gs>
              <a:gs pos="100000">
                <a:srgbClr val="17513D"/>
              </a:gs>
            </a:gsLst>
            <a:lin ang="8100000"/>
          </a:gradFill>
          <a:ln w="9525">
            <a:solidFill>
              <a:srgbClr val="0E2D23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B5CC2E0-4F65-40DB-BFBB-1BAFA5742DB1}"/>
              </a:ext>
            </a:extLst>
          </p:cNvPr>
          <p:cNvSpPr>
            <a:spLocks noGrp="1"/>
          </p:cNvSpPr>
          <p:nvPr/>
        </p:nvSpPr>
        <p:spPr>
          <a:xfrm>
            <a:off x="457200" y="419100"/>
            <a:ext cx="1409700" cy="266700"/>
          </a:xfrm>
          <a:prstGeom prst="roundRect">
            <a:avLst>
              <a:gd name="adj" fmla="val 28571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95F61C-58CE-4BFE-A5F1-1911D59C99C8}"/>
              </a:ext>
            </a:extLst>
          </p:cNvPr>
          <p:cNvSpPr>
            <a:spLocks noGrp="1"/>
          </p:cNvSpPr>
          <p:nvPr/>
        </p:nvSpPr>
        <p:spPr>
          <a:xfrm>
            <a:off x="533400" y="43815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DEMO / CONCLUSION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762D31-AFE7-4DB3-9984-9057570909FF}"/>
              </a:ext>
            </a:extLst>
          </p:cNvPr>
          <p:cNvSpPr>
            <a:spLocks noGrp="1"/>
          </p:cNvSpPr>
          <p:nvPr/>
        </p:nvSpPr>
        <p:spPr>
          <a:xfrm>
            <a:off x="10553700" y="419100"/>
            <a:ext cx="1066800" cy="266700"/>
          </a:xfrm>
          <a:prstGeom prst="roundRect">
            <a:avLst>
              <a:gd name="adj" fmla="val 28571"/>
            </a:avLst>
          </a:prstGeom>
          <a:solidFill>
            <a:srgbClr val="F4E8D1"/>
          </a:solidFill>
          <a:ln w="9525">
            <a:solidFill>
              <a:srgbClr val="F4E8D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BDE79E-AFD1-4D11-A4B0-6FCF747B9B81}"/>
              </a:ext>
            </a:extLst>
          </p:cNvPr>
          <p:cNvSpPr>
            <a:spLocks noGrp="1"/>
          </p:cNvSpPr>
          <p:nvPr/>
        </p:nvSpPr>
        <p:spPr>
          <a:xfrm>
            <a:off x="10629900" y="438150"/>
            <a:ext cx="914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AFF650-3C2F-4847-A90D-2DB2163380F8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6858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5756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56D"/>
                </a:solidFill>
                <a:latin typeface="Aptos"/>
                <a:ea typeface="Aptos"/>
                <a:cs typeface="Aptos"/>
              </a:rPr>
              <a:t>Farmer Marketplace • Presentation deck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E3199B3-762C-4BD6-812E-E71E22A6012D}"/>
              </a:ext>
            </a:extLst>
          </p:cNvPr>
          <p:cNvSpPr>
            <a:spLocks noGrp="1"/>
          </p:cNvSpPr>
          <p:nvPr/>
        </p:nvSpPr>
        <p:spPr>
          <a:xfrm>
            <a:off x="10629900" y="6305550"/>
            <a:ext cx="876300" cy="247650"/>
          </a:xfrm>
          <a:prstGeom prst="roundRect">
            <a:avLst>
              <a:gd name="adj" fmla="val 30769"/>
            </a:avLst>
          </a:prstGeom>
          <a:solidFill>
            <a:srgbClr val="EAF1E8"/>
          </a:solidFill>
          <a:ln w="9525">
            <a:solidFill>
              <a:srgbClr val="EAF1E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89347B-5F76-49E2-9970-20FBC72D5100}"/>
              </a:ext>
            </a:extLst>
          </p:cNvPr>
          <p:cNvSpPr>
            <a:spLocks noGrp="1"/>
          </p:cNvSpPr>
          <p:nvPr/>
        </p:nvSpPr>
        <p:spPr>
          <a:xfrm>
            <a:off x="10706100" y="632460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825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10 / 10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A3D1A1-F159-4F2B-857F-92D597D4F0E6}"/>
              </a:ext>
            </a:extLst>
          </p:cNvPr>
          <p:cNvSpPr>
            <a:spLocks noGrp="1"/>
          </p:cNvSpPr>
          <p:nvPr/>
        </p:nvSpPr>
        <p:spPr>
          <a:xfrm>
            <a:off x="342900" y="1714500"/>
            <a:ext cx="5219700" cy="388620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E8E3D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B8CC3E-3A8C-4384-98EB-1A6218516BCF}"/>
              </a:ext>
            </a:extLst>
          </p:cNvPr>
          <p:cNvSpPr>
            <a:spLocks noGrp="1"/>
          </p:cNvSpPr>
          <p:nvPr/>
        </p:nvSpPr>
        <p:spPr>
          <a:xfrm>
            <a:off x="495300" y="1847850"/>
            <a:ext cx="57150" cy="3619500"/>
          </a:xfrm>
          <a:prstGeom prst="roundRect">
            <a:avLst>
              <a:gd name="adj" fmla="val 50000"/>
            </a:avLst>
          </a:prstGeom>
          <a:solidFill>
            <a:srgbClr val="1D6A4A"/>
          </a:solidFill>
          <a:ln w="0">
            <a:solidFill>
              <a:srgbClr val="1D6A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1F0457-60B4-4C6A-BC15-8A362AA4CB1B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476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What is ready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419B75-5164-4200-B052-0228DFAB8FBA}"/>
              </a:ext>
            </a:extLst>
          </p:cNvPr>
          <p:cNvSpPr>
            <a:spLocks noGrp="1"/>
          </p:cNvSpPr>
          <p:nvPr/>
        </p:nvSpPr>
        <p:spPr>
          <a:xfrm>
            <a:off x="647700" y="2400300"/>
            <a:ext cx="4762500" cy="2381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Working application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Source code on GitHub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Updated architecture and API docs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Stripe and payment flow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Render / Netlify deployment</a:t>
            </a:r>
          </a:p>
          <a:p>
            <a:pPr algn="l">
              <a:defRPr sz="1350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• Presentation deck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2C4324-1691-4970-B4D7-8168B835FF07}"/>
              </a:ext>
            </a:extLst>
          </p:cNvPr>
          <p:cNvSpPr>
            <a:spLocks noGrp="1"/>
          </p:cNvSpPr>
          <p:nvPr/>
        </p:nvSpPr>
        <p:spPr>
          <a:xfrm>
            <a:off x="5829300" y="1714500"/>
            <a:ext cx="5638800" cy="3886200"/>
          </a:xfrm>
          <a:prstGeom prst="roundRect">
            <a:avLst>
              <a:gd name="adj" fmla="val 1961"/>
            </a:avLst>
          </a:prstGeom>
          <a:solidFill>
            <a:srgbClr val="EAF2EA"/>
          </a:solidFill>
          <a:ln w="9525">
            <a:solidFill>
              <a:srgbClr val="D9E5D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CB254C-27BB-4BCD-886C-C59209146004}"/>
              </a:ext>
            </a:extLst>
          </p:cNvPr>
          <p:cNvSpPr>
            <a:spLocks noGrp="1"/>
          </p:cNvSpPr>
          <p:nvPr/>
        </p:nvSpPr>
        <p:spPr>
          <a:xfrm>
            <a:off x="5981700" y="1847850"/>
            <a:ext cx="57150" cy="3619500"/>
          </a:xfrm>
          <a:prstGeom prst="roundRect">
            <a:avLst>
              <a:gd name="adj" fmla="val 50000"/>
            </a:avLst>
          </a:prstGeom>
          <a:solidFill>
            <a:srgbClr val="133F30"/>
          </a:solidFill>
          <a:ln w="0">
            <a:solidFill>
              <a:srgbClr val="133F3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740C1F-2490-421D-B9AB-86176D1BE302}"/>
              </a:ext>
            </a:extLst>
          </p:cNvPr>
          <p:cNvSpPr>
            <a:spLocks noGrp="1"/>
          </p:cNvSpPr>
          <p:nvPr/>
        </p:nvSpPr>
        <p:spPr>
          <a:xfrm>
            <a:off x="6134100" y="1885950"/>
            <a:ext cx="5181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124"/>
                </a:solidFill>
                <a:latin typeface="Aptos"/>
                <a:ea typeface="Aptos"/>
                <a:cs typeface="Aptos"/>
              </a:rPr>
              <a:t>Live demo links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3EA9ED-11BE-47DF-AB0C-35EF66E30CFF}"/>
              </a:ext>
            </a:extLst>
          </p:cNvPr>
          <p:cNvSpPr>
            <a:spLocks noGrp="1"/>
          </p:cNvSpPr>
          <p:nvPr/>
        </p:nvSpPr>
        <p:spPr>
          <a:xfrm>
            <a:off x="6134100" y="2400300"/>
            <a:ext cx="5181600" cy="2095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Frontend: https://sl-market-place.netlify.app/</a:t>
            </a:r>
          </a:p>
          <a:p>
            <a:pPr algn="l">
              <a:defRPr sz="127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API: https://farmer-marketplace-fs2a.onrender.com</a:t>
            </a:r>
          </a:p>
          <a:p>
            <a:endParaRPr sz="1275" b="0">
              <a:solidFill>
                <a:srgbClr val="173124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12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124"/>
                </a:solidFill>
                <a:latin typeface="Aptos"/>
                <a:ea typeface="Aptos"/>
                <a:cs typeface="Aptos"/>
              </a:rPr>
              <a:t>Built to be mobile-first, responsive, and production-oriented.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B21067E-901D-4BE4-BA67-6FBBD22600C7}"/>
              </a:ext>
            </a:extLst>
          </p:cNvPr>
          <p:cNvSpPr>
            <a:spLocks noGrp="1"/>
          </p:cNvSpPr>
          <p:nvPr/>
        </p:nvSpPr>
        <p:spPr>
          <a:xfrm>
            <a:off x="6667500" y="470535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28813A-FF78-4210-90E7-EFB94A089F32}"/>
              </a:ext>
            </a:extLst>
          </p:cNvPr>
          <p:cNvSpPr>
            <a:spLocks noGrp="1"/>
          </p:cNvSpPr>
          <p:nvPr/>
        </p:nvSpPr>
        <p:spPr>
          <a:xfrm>
            <a:off x="6743700" y="4724400"/>
            <a:ext cx="1466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Mobile-first UI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AFDA93B-1607-4C66-9E0B-AE0C71083DF0}"/>
              </a:ext>
            </a:extLst>
          </p:cNvPr>
          <p:cNvSpPr>
            <a:spLocks noGrp="1"/>
          </p:cNvSpPr>
          <p:nvPr/>
        </p:nvSpPr>
        <p:spPr>
          <a:xfrm>
            <a:off x="8458200" y="4705350"/>
            <a:ext cx="16764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2A57E26-C91D-429F-9E39-671A5E550428}"/>
              </a:ext>
            </a:extLst>
          </p:cNvPr>
          <p:cNvSpPr>
            <a:spLocks noGrp="1"/>
          </p:cNvSpPr>
          <p:nvPr/>
        </p:nvSpPr>
        <p:spPr>
          <a:xfrm>
            <a:off x="8534400" y="47244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133F3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3F30"/>
                </a:solidFill>
                <a:latin typeface="Aptos"/>
                <a:ea typeface="Aptos"/>
                <a:cs typeface="Aptos"/>
              </a:rPr>
              <a:t>Secure payments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A0E354-0ABF-47AD-BBBA-04F8634DE969}"/>
              </a:ext>
            </a:extLst>
          </p:cNvPr>
          <p:cNvSpPr>
            <a:spLocks noGrp="1"/>
          </p:cNvSpPr>
          <p:nvPr/>
        </p:nvSpPr>
        <p:spPr>
          <a:xfrm>
            <a:off x="10287000" y="4705350"/>
            <a:ext cx="952500" cy="285750"/>
          </a:xfrm>
          <a:prstGeom prst="roundRect">
            <a:avLst>
              <a:gd name="adj" fmla="val 26667"/>
            </a:avLst>
          </a:prstGeom>
          <a:solidFill>
            <a:srgbClr val="133F30"/>
          </a:solidFill>
          <a:ln w="9525">
            <a:solidFill>
              <a:srgbClr val="133F3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6246C2-75B7-4501-827C-D2EEEE7EC4BF}"/>
              </a:ext>
            </a:extLst>
          </p:cNvPr>
          <p:cNvSpPr>
            <a:spLocks noGrp="1"/>
          </p:cNvSpPr>
          <p:nvPr/>
        </p:nvSpPr>
        <p:spPr>
          <a:xfrm>
            <a:off x="10363200" y="4724400"/>
            <a:ext cx="800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725DB67-D55A-433C-8D62-818D56B12530}"/>
              </a:ext>
            </a:extLst>
          </p:cNvPr>
          <p:cNvSpPr>
            <a:spLocks noGrp="1"/>
          </p:cNvSpPr>
          <p:nvPr/>
        </p:nvSpPr>
        <p:spPr>
          <a:xfrm>
            <a:off x="9696450" y="3352800"/>
            <a:ext cx="1066800" cy="1066800"/>
          </a:xfrm>
          <a:prstGeom prst="ellipse">
            <a:avLst/>
          </a:prstGeom>
          <a:solidFill>
            <a:srgbClr val="133F30"/>
          </a:solidFill>
          <a:ln w="9525">
            <a:solidFill>
              <a:srgbClr val="133F3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2F9075-EA48-4160-9904-8476DE3B8FF5}"/>
              </a:ext>
            </a:extLst>
          </p:cNvPr>
          <p:cNvSpPr>
            <a:spLocks noGrp="1"/>
          </p:cNvSpPr>
          <p:nvPr/>
        </p:nvSpPr>
        <p:spPr>
          <a:xfrm>
            <a:off x="9696450" y="3657600"/>
            <a:ext cx="1066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✓</a:t>
            </a:r>
          </a:p>
        </p:txBody>
      </p:sp>
    </p:spTree>
    <p:extLst>
      <p:ext uri="{BB962C8B-B14F-4D97-AF65-F5344CB8AC3E}">
        <p14:creationId xmlns:p14="http://schemas.microsoft.com/office/powerpoint/2010/main" val="11082419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1198</Words>
  <Application>Microsoft Office PowerPoint</Application>
  <DocSecurity>0</DocSecurity>
  <PresentationFormat>Widescreen</PresentationFormat>
  <Paragraphs>258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Abdulai Bah</cp:lastModifiedBy>
  <cp:revision>1</cp:revision>
  <dcterms:created xsi:type="dcterms:W3CDTF">2026-06-16T13:21:52Z</dcterms:created>
  <dcterms:modified xsi:type="dcterms:W3CDTF">2026-06-16T13:31:27Z</dcterms:modified>
</cp:coreProperties>
</file>